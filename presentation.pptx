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E7C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9300" y="0"/>
            <a:ext cx="1028700" cy="10287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59300" y="7527480"/>
            <a:ext cx="1028700" cy="275951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50041" y="7662331"/>
            <a:ext cx="12439649" cy="23907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E7C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259300" y="0"/>
            <a:ext cx="1028700" cy="10287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81964" y="-187336"/>
            <a:ext cx="11882755" cy="21621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1150" y="2701970"/>
            <a:ext cx="16256635" cy="64344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0515" y="1625547"/>
            <a:ext cx="10707370" cy="1797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95"/>
              </a:spcBef>
            </a:pPr>
            <a:r>
              <a:rPr spc="-85" dirty="0">
                <a:solidFill>
                  <a:srgbClr val="1F2020"/>
                </a:solidFill>
              </a:rPr>
              <a:t>Consistent</a:t>
            </a:r>
            <a:r>
              <a:rPr spc="-445" dirty="0">
                <a:solidFill>
                  <a:srgbClr val="1F2020"/>
                </a:solidFill>
              </a:rPr>
              <a:t> </a:t>
            </a:r>
            <a:r>
              <a:rPr spc="-320" dirty="0">
                <a:solidFill>
                  <a:srgbClr val="1F2020"/>
                </a:solidFill>
              </a:rPr>
              <a:t>AI:</a:t>
            </a:r>
            <a:r>
              <a:rPr spc="-440" dirty="0">
                <a:solidFill>
                  <a:srgbClr val="1F2020"/>
                </a:solidFill>
              </a:rPr>
              <a:t> </a:t>
            </a:r>
            <a:r>
              <a:rPr spc="-10" dirty="0">
                <a:solidFill>
                  <a:srgbClr val="1F2020"/>
                </a:solidFill>
              </a:rPr>
              <a:t>AI-</a:t>
            </a:r>
            <a:r>
              <a:rPr spc="-65" dirty="0">
                <a:solidFill>
                  <a:srgbClr val="1F2020"/>
                </a:solidFill>
              </a:rPr>
              <a:t>Powered</a:t>
            </a:r>
            <a:r>
              <a:rPr spc="-440" dirty="0">
                <a:solidFill>
                  <a:srgbClr val="1F2020"/>
                </a:solidFill>
              </a:rPr>
              <a:t> </a:t>
            </a:r>
            <a:r>
              <a:rPr spc="-140" dirty="0">
                <a:solidFill>
                  <a:srgbClr val="1F2020"/>
                </a:solidFill>
              </a:rPr>
              <a:t>Sales </a:t>
            </a:r>
            <a:r>
              <a:rPr spc="-105" dirty="0">
                <a:solidFill>
                  <a:srgbClr val="1F2020"/>
                </a:solidFill>
              </a:rPr>
              <a:t>Intelligence</a:t>
            </a:r>
            <a:r>
              <a:rPr spc="-385" dirty="0">
                <a:solidFill>
                  <a:srgbClr val="1F2020"/>
                </a:solidFill>
              </a:rPr>
              <a:t> </a:t>
            </a:r>
            <a:r>
              <a:rPr spc="-10" dirty="0">
                <a:solidFill>
                  <a:srgbClr val="1F2020"/>
                </a:solidFill>
              </a:rPr>
              <a:t>Suite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659263" y="9627163"/>
            <a:ext cx="229235" cy="26797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400" spc="-110" dirty="0">
                <a:solidFill>
                  <a:srgbClr val="FFFFFF"/>
                </a:solidFill>
                <a:latin typeface="Arial Black"/>
                <a:cs typeface="Arial Black"/>
              </a:rPr>
              <a:t>01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80004" y="3672459"/>
            <a:ext cx="6424295" cy="3535045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14"/>
              </a:spcBef>
            </a:pPr>
            <a:r>
              <a:rPr sz="3500" spc="-195" dirty="0">
                <a:latin typeface="Arial Black"/>
                <a:cs typeface="Arial Black"/>
              </a:rPr>
              <a:t>Under</a:t>
            </a:r>
            <a:r>
              <a:rPr sz="3500" spc="-285" dirty="0">
                <a:latin typeface="Arial Black"/>
                <a:cs typeface="Arial Black"/>
              </a:rPr>
              <a:t> </a:t>
            </a:r>
            <a:r>
              <a:rPr sz="3500" spc="-204" dirty="0">
                <a:latin typeface="Arial Black"/>
                <a:cs typeface="Arial Black"/>
              </a:rPr>
              <a:t>Supervision</a:t>
            </a:r>
            <a:r>
              <a:rPr sz="3500" spc="-285" dirty="0">
                <a:latin typeface="Arial Black"/>
                <a:cs typeface="Arial Black"/>
              </a:rPr>
              <a:t> </a:t>
            </a:r>
            <a:r>
              <a:rPr sz="3500" spc="-20" dirty="0">
                <a:latin typeface="Arial Black"/>
                <a:cs typeface="Arial Black"/>
              </a:rPr>
              <a:t>of:-</a:t>
            </a:r>
            <a:endParaRPr sz="35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714"/>
              </a:spcBef>
            </a:pPr>
            <a:r>
              <a:rPr sz="3500" spc="-45" dirty="0">
                <a:solidFill>
                  <a:srgbClr val="1F2020"/>
                </a:solidFill>
                <a:latin typeface="Lucida Sans Unicode"/>
                <a:cs typeface="Lucida Sans Unicode"/>
              </a:rPr>
              <a:t>Dr.</a:t>
            </a:r>
            <a:r>
              <a:rPr sz="3500" spc="-235" dirty="0">
                <a:solidFill>
                  <a:srgbClr val="1F2020"/>
                </a:solidFill>
                <a:latin typeface="Lucida Sans Unicode"/>
                <a:cs typeface="Lucida Sans Unicode"/>
              </a:rPr>
              <a:t> </a:t>
            </a:r>
            <a:r>
              <a:rPr sz="3500" spc="145" dirty="0">
                <a:solidFill>
                  <a:srgbClr val="1F2020"/>
                </a:solidFill>
                <a:latin typeface="Lucida Sans Unicode"/>
                <a:cs typeface="Lucida Sans Unicode"/>
              </a:rPr>
              <a:t>Kamal</a:t>
            </a:r>
            <a:r>
              <a:rPr sz="3500" spc="-229" dirty="0">
                <a:solidFill>
                  <a:srgbClr val="1F2020"/>
                </a:solidFill>
                <a:latin typeface="Lucida Sans Unicode"/>
                <a:cs typeface="Lucida Sans Unicode"/>
              </a:rPr>
              <a:t> </a:t>
            </a:r>
            <a:r>
              <a:rPr lang="en-IN" sz="3500" spc="114" dirty="0">
                <a:solidFill>
                  <a:srgbClr val="1F2020"/>
                </a:solidFill>
                <a:latin typeface="Lucida Sans Unicode"/>
                <a:cs typeface="Lucida Sans Unicode"/>
              </a:rPr>
              <a:t>Agarwal</a:t>
            </a:r>
            <a:endParaRPr sz="35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16100"/>
              </a:lnSpc>
              <a:spcBef>
                <a:spcPts val="1175"/>
              </a:spcBef>
            </a:pPr>
            <a:r>
              <a:rPr sz="3500" dirty="0">
                <a:solidFill>
                  <a:srgbClr val="1F2020"/>
                </a:solidFill>
                <a:latin typeface="Lucida Sans Unicode"/>
                <a:cs typeface="Lucida Sans Unicode"/>
              </a:rPr>
              <a:t>Mr.</a:t>
            </a:r>
            <a:r>
              <a:rPr sz="3500" spc="-225" dirty="0">
                <a:solidFill>
                  <a:srgbClr val="1F2020"/>
                </a:solidFill>
                <a:latin typeface="Lucida Sans Unicode"/>
                <a:cs typeface="Lucida Sans Unicode"/>
              </a:rPr>
              <a:t> </a:t>
            </a:r>
            <a:r>
              <a:rPr sz="3500" spc="180" dirty="0">
                <a:solidFill>
                  <a:srgbClr val="1F2020"/>
                </a:solidFill>
                <a:latin typeface="Lucida Sans Unicode"/>
                <a:cs typeface="Lucida Sans Unicode"/>
              </a:rPr>
              <a:t>Subodh</a:t>
            </a:r>
            <a:r>
              <a:rPr sz="3500" spc="-225" dirty="0">
                <a:solidFill>
                  <a:srgbClr val="1F2020"/>
                </a:solidFill>
                <a:latin typeface="Lucida Sans Unicode"/>
                <a:cs typeface="Lucida Sans Unicode"/>
              </a:rPr>
              <a:t> </a:t>
            </a:r>
            <a:r>
              <a:rPr sz="3500" spc="80" dirty="0">
                <a:solidFill>
                  <a:srgbClr val="1F2020"/>
                </a:solidFill>
                <a:latin typeface="Lucida Sans Unicode"/>
                <a:cs typeface="Lucida Sans Unicode"/>
              </a:rPr>
              <a:t>Raj</a:t>
            </a:r>
            <a:r>
              <a:rPr sz="3500" spc="-225" dirty="0">
                <a:solidFill>
                  <a:srgbClr val="1F2020"/>
                </a:solidFill>
                <a:latin typeface="Lucida Sans Unicode"/>
                <a:cs typeface="Lucida Sans Unicode"/>
              </a:rPr>
              <a:t> </a:t>
            </a:r>
            <a:r>
              <a:rPr sz="3500" spc="185" dirty="0">
                <a:solidFill>
                  <a:srgbClr val="1F2020"/>
                </a:solidFill>
                <a:latin typeface="Lucida Sans Unicode"/>
                <a:cs typeface="Lucida Sans Unicode"/>
              </a:rPr>
              <a:t>Satyal</a:t>
            </a:r>
            <a:r>
              <a:rPr sz="3500" spc="-225" dirty="0">
                <a:solidFill>
                  <a:srgbClr val="1F2020"/>
                </a:solidFill>
                <a:latin typeface="Lucida Sans Unicode"/>
                <a:cs typeface="Lucida Sans Unicode"/>
              </a:rPr>
              <a:t> </a:t>
            </a:r>
            <a:r>
              <a:rPr sz="3500" spc="204" dirty="0">
                <a:solidFill>
                  <a:srgbClr val="1F2020"/>
                </a:solidFill>
                <a:latin typeface="Lucida Sans Unicode"/>
                <a:cs typeface="Lucida Sans Unicode"/>
              </a:rPr>
              <a:t>(CTO </a:t>
            </a:r>
            <a:r>
              <a:rPr sz="3500" spc="160" dirty="0">
                <a:solidFill>
                  <a:srgbClr val="1F2020"/>
                </a:solidFill>
                <a:latin typeface="Lucida Sans Unicode"/>
                <a:cs typeface="Lucida Sans Unicode"/>
              </a:rPr>
              <a:t>Consistent</a:t>
            </a:r>
            <a:r>
              <a:rPr sz="3500" spc="-235" dirty="0">
                <a:solidFill>
                  <a:srgbClr val="1F2020"/>
                </a:solidFill>
                <a:latin typeface="Lucida Sans Unicode"/>
                <a:cs typeface="Lucida Sans Unicode"/>
              </a:rPr>
              <a:t> </a:t>
            </a:r>
            <a:r>
              <a:rPr sz="3500" spc="145" dirty="0">
                <a:solidFill>
                  <a:srgbClr val="1F2020"/>
                </a:solidFill>
                <a:latin typeface="Lucida Sans Unicode"/>
                <a:cs typeface="Lucida Sans Unicode"/>
              </a:rPr>
              <a:t>Infosystems</a:t>
            </a:r>
            <a:r>
              <a:rPr sz="3500" spc="-235" dirty="0">
                <a:solidFill>
                  <a:srgbClr val="1F2020"/>
                </a:solidFill>
                <a:latin typeface="Lucida Sans Unicode"/>
                <a:cs typeface="Lucida Sans Unicode"/>
              </a:rPr>
              <a:t> </a:t>
            </a:r>
            <a:r>
              <a:rPr sz="3500" spc="90" dirty="0">
                <a:solidFill>
                  <a:srgbClr val="1F2020"/>
                </a:solidFill>
                <a:latin typeface="Lucida Sans Unicode"/>
                <a:cs typeface="Lucida Sans Unicode"/>
              </a:rPr>
              <a:t>Pvt. </a:t>
            </a:r>
            <a:r>
              <a:rPr sz="3500" spc="114" dirty="0">
                <a:solidFill>
                  <a:srgbClr val="1F2020"/>
                </a:solidFill>
                <a:latin typeface="Lucida Sans Unicode"/>
                <a:cs typeface="Lucida Sans Unicode"/>
              </a:rPr>
              <a:t>Ltd.)</a:t>
            </a:r>
            <a:endParaRPr sz="3500" dirty="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24117" y="3632521"/>
            <a:ext cx="5690870" cy="3499485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2130"/>
              </a:spcBef>
            </a:pPr>
            <a:r>
              <a:rPr sz="3500" spc="-245" dirty="0">
                <a:latin typeface="Arial Black"/>
                <a:cs typeface="Arial Black"/>
              </a:rPr>
              <a:t>Presented</a:t>
            </a:r>
            <a:r>
              <a:rPr sz="3500" spc="-305" dirty="0">
                <a:latin typeface="Arial Black"/>
                <a:cs typeface="Arial Black"/>
              </a:rPr>
              <a:t> </a:t>
            </a:r>
            <a:r>
              <a:rPr sz="3500" spc="-225" dirty="0">
                <a:latin typeface="Arial Black"/>
                <a:cs typeface="Arial Black"/>
              </a:rPr>
              <a:t>By</a:t>
            </a:r>
            <a:r>
              <a:rPr sz="3500" spc="-300" dirty="0">
                <a:latin typeface="Arial Black"/>
                <a:cs typeface="Arial Black"/>
              </a:rPr>
              <a:t> </a:t>
            </a:r>
            <a:r>
              <a:rPr sz="3500" spc="-25" dirty="0">
                <a:latin typeface="Arial Black"/>
                <a:cs typeface="Arial Black"/>
              </a:rPr>
              <a:t>:-</a:t>
            </a:r>
            <a:endParaRPr sz="35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739"/>
              </a:spcBef>
            </a:pPr>
            <a:r>
              <a:rPr lang="en-IN" sz="3000" spc="110" dirty="0">
                <a:solidFill>
                  <a:srgbClr val="1F2020"/>
                </a:solidFill>
                <a:latin typeface="Lucida Sans Unicode"/>
                <a:cs typeface="Lucida Sans Unicode"/>
              </a:rPr>
              <a:t>Chahit Luthra</a:t>
            </a:r>
            <a:r>
              <a:rPr sz="3000" spc="100" dirty="0">
                <a:solidFill>
                  <a:srgbClr val="1F2020"/>
                </a:solidFill>
                <a:latin typeface="Lucida Sans Unicode"/>
                <a:cs typeface="Lucida Sans Unicode"/>
              </a:rPr>
              <a:t>-</a:t>
            </a:r>
            <a:r>
              <a:rPr sz="3000" spc="-200" dirty="0">
                <a:solidFill>
                  <a:srgbClr val="1F2020"/>
                </a:solidFill>
                <a:latin typeface="Lucida Sans Unicode"/>
                <a:cs typeface="Lucida Sans Unicode"/>
              </a:rPr>
              <a:t> </a:t>
            </a:r>
            <a:r>
              <a:rPr sz="3000" spc="-305" dirty="0">
                <a:solidFill>
                  <a:srgbClr val="1F2020"/>
                </a:solidFill>
                <a:latin typeface="Lucida Sans Unicode"/>
                <a:cs typeface="Lucida Sans Unicode"/>
              </a:rPr>
              <a:t>2210110</a:t>
            </a:r>
            <a:r>
              <a:rPr lang="en-IN" sz="3000" spc="-305" dirty="0">
                <a:solidFill>
                  <a:srgbClr val="1F2020"/>
                </a:solidFill>
                <a:latin typeface="Lucida Sans Unicode"/>
                <a:cs typeface="Lucida Sans Unicode"/>
              </a:rPr>
              <a:t>236</a:t>
            </a:r>
            <a:endParaRPr sz="3000" dirty="0">
              <a:latin typeface="Lucida Sans Unicode"/>
              <a:cs typeface="Lucida Sans Unicode"/>
            </a:endParaRPr>
          </a:p>
          <a:p>
            <a:pPr marL="29209">
              <a:lnSpc>
                <a:spcPct val="100000"/>
              </a:lnSpc>
              <a:spcBef>
                <a:spcPts val="1830"/>
              </a:spcBef>
            </a:pPr>
            <a:r>
              <a:rPr sz="3500" spc="-85" dirty="0">
                <a:latin typeface="Arial Black"/>
                <a:cs typeface="Arial Black"/>
              </a:rPr>
              <a:t>Company:</a:t>
            </a:r>
            <a:endParaRPr sz="3500" dirty="0">
              <a:latin typeface="Arial Black"/>
              <a:cs typeface="Arial Black"/>
            </a:endParaRPr>
          </a:p>
          <a:p>
            <a:pPr marL="12700" marR="184785">
              <a:lnSpc>
                <a:spcPct val="116700"/>
              </a:lnSpc>
              <a:spcBef>
                <a:spcPts val="1350"/>
              </a:spcBef>
            </a:pPr>
            <a:r>
              <a:rPr sz="3000" spc="140" dirty="0">
                <a:solidFill>
                  <a:srgbClr val="1F2020"/>
                </a:solidFill>
                <a:latin typeface="Lucida Sans Unicode"/>
                <a:cs typeface="Lucida Sans Unicode"/>
              </a:rPr>
              <a:t>Consistent</a:t>
            </a:r>
            <a:r>
              <a:rPr sz="3000" spc="-175" dirty="0">
                <a:solidFill>
                  <a:srgbClr val="1F2020"/>
                </a:solidFill>
                <a:latin typeface="Lucida Sans Unicode"/>
                <a:cs typeface="Lucida Sans Unicode"/>
              </a:rPr>
              <a:t> </a:t>
            </a:r>
            <a:r>
              <a:rPr sz="3000" spc="130" dirty="0">
                <a:solidFill>
                  <a:srgbClr val="1F2020"/>
                </a:solidFill>
                <a:latin typeface="Lucida Sans Unicode"/>
                <a:cs typeface="Lucida Sans Unicode"/>
              </a:rPr>
              <a:t>Infosystems</a:t>
            </a:r>
            <a:r>
              <a:rPr sz="3000" spc="-170" dirty="0">
                <a:solidFill>
                  <a:srgbClr val="1F2020"/>
                </a:solidFill>
                <a:latin typeface="Lucida Sans Unicode"/>
                <a:cs typeface="Lucida Sans Unicode"/>
              </a:rPr>
              <a:t> </a:t>
            </a:r>
            <a:r>
              <a:rPr sz="3000" spc="80" dirty="0">
                <a:solidFill>
                  <a:srgbClr val="1F2020"/>
                </a:solidFill>
                <a:latin typeface="Lucida Sans Unicode"/>
                <a:cs typeface="Lucida Sans Unicode"/>
              </a:rPr>
              <a:t>Pvt. </a:t>
            </a:r>
            <a:r>
              <a:rPr sz="3000" spc="45" dirty="0">
                <a:solidFill>
                  <a:srgbClr val="1F2020"/>
                </a:solidFill>
                <a:latin typeface="Lucida Sans Unicode"/>
                <a:cs typeface="Lucida Sans Unicode"/>
              </a:rPr>
              <a:t>Ltd.</a:t>
            </a:r>
            <a:endParaRPr sz="30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9300" y="7527480"/>
            <a:ext cx="1028700" cy="275951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70882" y="1478760"/>
            <a:ext cx="9946005" cy="802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72085">
              <a:lnSpc>
                <a:spcPct val="116700"/>
              </a:lnSpc>
              <a:spcBef>
                <a:spcPts val="95"/>
              </a:spcBef>
            </a:pPr>
            <a:r>
              <a:rPr sz="3000" spc="-254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The</a:t>
            </a:r>
            <a:r>
              <a:rPr sz="3000" spc="-27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7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Problem</a:t>
            </a:r>
            <a:r>
              <a:rPr sz="3000" spc="-27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0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Statement:</a:t>
            </a:r>
            <a:r>
              <a:rPr sz="3000" spc="-27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9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B2B</a:t>
            </a:r>
            <a:r>
              <a:rPr sz="3000" spc="-27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8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sales</a:t>
            </a:r>
            <a:r>
              <a:rPr sz="3000" spc="-27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6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and</a:t>
            </a:r>
            <a:r>
              <a:rPr sz="3000" spc="-27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distribution </a:t>
            </a:r>
            <a:r>
              <a:rPr sz="3000" spc="-254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teams</a:t>
            </a:r>
            <a:r>
              <a:rPr sz="3000" spc="-26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2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often</a:t>
            </a:r>
            <a:r>
              <a:rPr sz="3000" spc="-26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5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rely</a:t>
            </a:r>
            <a:r>
              <a:rPr sz="3000" spc="-26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2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on</a:t>
            </a:r>
            <a:r>
              <a:rPr sz="3000" spc="-26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backward-</a:t>
            </a:r>
            <a:r>
              <a:rPr sz="3000" spc="-15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looking,</a:t>
            </a:r>
            <a:r>
              <a:rPr sz="3000" spc="-26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4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reactive </a:t>
            </a:r>
            <a:r>
              <a:rPr sz="3000" spc="-15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reporting</a:t>
            </a:r>
            <a:r>
              <a:rPr sz="3000" spc="-24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1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(like</a:t>
            </a:r>
            <a:r>
              <a:rPr sz="3000" spc="-24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54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basic</a:t>
            </a:r>
            <a:r>
              <a:rPr sz="3000" spc="-24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04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dashboards</a:t>
            </a:r>
            <a:r>
              <a:rPr sz="3000" spc="-24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5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showing</a:t>
            </a:r>
            <a:r>
              <a:rPr sz="3000" spc="-24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2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past</a:t>
            </a:r>
            <a:r>
              <a:rPr sz="3000" spc="-24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6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sales). </a:t>
            </a:r>
            <a:r>
              <a:rPr sz="3000" spc="-22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They</a:t>
            </a:r>
            <a:r>
              <a:rPr sz="3000" spc="-27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1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struggle</a:t>
            </a:r>
            <a:r>
              <a:rPr sz="3000" spc="-26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to:</a:t>
            </a:r>
            <a:endParaRPr sz="3000" dirty="0">
              <a:latin typeface="Verdana" panose="020B0604030504040204" pitchFamily="34" charset="0"/>
              <a:ea typeface="Verdana" panose="020B0604030504040204" pitchFamily="34" charset="0"/>
              <a:cs typeface="Arial Black"/>
            </a:endParaRPr>
          </a:p>
          <a:p>
            <a:pPr marL="658495" marR="817880" indent="-393700">
              <a:lnSpc>
                <a:spcPts val="4200"/>
              </a:lnSpc>
              <a:spcBef>
                <a:spcPts val="240"/>
              </a:spcBef>
              <a:buClr>
                <a:srgbClr val="01B1F1"/>
              </a:buClr>
              <a:buFont typeface="Verdana"/>
              <a:buAutoNum type="arabicPeriod"/>
              <a:tabLst>
                <a:tab pos="659765" algn="l"/>
              </a:tabLst>
            </a:pPr>
            <a:r>
              <a:rPr sz="3000" spc="-14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Identifying</a:t>
            </a:r>
            <a:r>
              <a:rPr sz="3000" spc="-26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4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which</a:t>
            </a:r>
            <a:r>
              <a:rPr sz="3000" spc="-254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8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partners</a:t>
            </a:r>
            <a:r>
              <a:rPr sz="3000" spc="-254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29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are</a:t>
            </a:r>
            <a:r>
              <a:rPr sz="3000" spc="-26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5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about</a:t>
            </a:r>
            <a:r>
              <a:rPr sz="3000" spc="-254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3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to</a:t>
            </a:r>
            <a:r>
              <a:rPr sz="3000" spc="-254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9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churn 	</a:t>
            </a:r>
            <a:r>
              <a:rPr sz="3000" spc="-14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before</a:t>
            </a:r>
            <a:r>
              <a:rPr sz="3000" spc="-26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5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they</a:t>
            </a:r>
            <a:r>
              <a:rPr sz="3000" spc="-26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7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stop</a:t>
            </a:r>
            <a:r>
              <a:rPr sz="3000" spc="-26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buying.</a:t>
            </a:r>
            <a:endParaRPr sz="3000" dirty="0">
              <a:latin typeface="Verdana" panose="020B0604030504040204" pitchFamily="34" charset="0"/>
              <a:ea typeface="Verdana" panose="020B0604030504040204" pitchFamily="34" charset="0"/>
              <a:cs typeface="Arial Black"/>
            </a:endParaRPr>
          </a:p>
          <a:p>
            <a:pPr marL="658495" marR="400050" indent="-393700">
              <a:lnSpc>
                <a:spcPts val="4200"/>
              </a:lnSpc>
              <a:buClr>
                <a:srgbClr val="01B1F1"/>
              </a:buClr>
              <a:buFont typeface="Verdana"/>
              <a:buAutoNum type="arabicPeriod"/>
              <a:tabLst>
                <a:tab pos="659765" algn="l"/>
              </a:tabLst>
            </a:pPr>
            <a:r>
              <a:rPr sz="3000" spc="-27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Knowing</a:t>
            </a:r>
            <a:r>
              <a:rPr sz="3000" spc="-26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4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exactly</a:t>
            </a:r>
            <a:r>
              <a:rPr sz="3000" spc="-26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54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what</a:t>
            </a:r>
            <a:r>
              <a:rPr sz="3000" spc="-26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3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to</a:t>
            </a:r>
            <a:r>
              <a:rPr sz="3000" spc="-26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1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cross-</a:t>
            </a:r>
            <a:r>
              <a:rPr sz="3000" spc="-19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sell</a:t>
            </a:r>
            <a:r>
              <a:rPr sz="3000" spc="-26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1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or</a:t>
            </a:r>
            <a:r>
              <a:rPr sz="3000" spc="-26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7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upsell</a:t>
            </a:r>
            <a:r>
              <a:rPr sz="3000" spc="-26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3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to</a:t>
            </a:r>
            <a:r>
              <a:rPr sz="3000" spc="-26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35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a 	</a:t>
            </a:r>
            <a:r>
              <a:rPr sz="3000" spc="-22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specific</a:t>
            </a:r>
            <a:r>
              <a:rPr sz="3000" spc="-22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5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partner.</a:t>
            </a:r>
            <a:endParaRPr sz="3000" dirty="0">
              <a:latin typeface="Verdana" panose="020B0604030504040204" pitchFamily="34" charset="0"/>
              <a:ea typeface="Verdana" panose="020B0604030504040204" pitchFamily="34" charset="0"/>
              <a:cs typeface="Arial Black"/>
            </a:endParaRPr>
          </a:p>
          <a:p>
            <a:pPr marL="657860" marR="1674495" indent="-393700">
              <a:lnSpc>
                <a:spcPts val="4200"/>
              </a:lnSpc>
              <a:buClr>
                <a:srgbClr val="01B1F1"/>
              </a:buClr>
              <a:buFont typeface="Verdana"/>
              <a:buAutoNum type="arabicPeriod"/>
              <a:tabLst>
                <a:tab pos="659765" algn="l"/>
              </a:tabLst>
            </a:pPr>
            <a:r>
              <a:rPr sz="3000" spc="-22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Managing</a:t>
            </a:r>
            <a:r>
              <a:rPr sz="3000" spc="-26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8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dead</a:t>
            </a:r>
            <a:r>
              <a:rPr sz="3000" spc="-26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6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stock</a:t>
            </a:r>
            <a:r>
              <a:rPr sz="3000" spc="-26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4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efficiently</a:t>
            </a:r>
            <a:r>
              <a:rPr sz="3000" spc="-26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4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before</a:t>
            </a:r>
            <a:r>
              <a:rPr sz="3000" spc="-254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it 	</a:t>
            </a:r>
            <a:r>
              <a:rPr sz="3000" spc="-24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becomes </a:t>
            </a:r>
            <a:r>
              <a:rPr sz="3000" spc="-30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a</a:t>
            </a:r>
            <a:r>
              <a:rPr sz="3000" spc="-24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8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financial</a:t>
            </a:r>
            <a:r>
              <a:rPr sz="3000" spc="-24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5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write-</a:t>
            </a:r>
            <a:r>
              <a:rPr sz="3000" spc="-2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off.</a:t>
            </a:r>
            <a:endParaRPr sz="3000" dirty="0">
              <a:latin typeface="Verdana" panose="020B0604030504040204" pitchFamily="34" charset="0"/>
              <a:ea typeface="Verdana" panose="020B0604030504040204" pitchFamily="34" charset="0"/>
              <a:cs typeface="Arial Black"/>
            </a:endParaRPr>
          </a:p>
          <a:p>
            <a:pPr marL="657860" marR="963930" indent="-393700">
              <a:lnSpc>
                <a:spcPts val="4200"/>
              </a:lnSpc>
              <a:buClr>
                <a:srgbClr val="01B1F1"/>
              </a:buClr>
              <a:buFont typeface="Verdana"/>
              <a:buAutoNum type="arabicPeriod"/>
              <a:tabLst>
                <a:tab pos="659765" algn="l"/>
              </a:tabLst>
            </a:pPr>
            <a:r>
              <a:rPr sz="3000" spc="-28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Assessing</a:t>
            </a:r>
            <a:r>
              <a:rPr sz="3000" spc="-26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8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real-</a:t>
            </a:r>
            <a:r>
              <a:rPr sz="3000" spc="-13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time</a:t>
            </a:r>
            <a:r>
              <a:rPr sz="3000" spc="-26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8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credit</a:t>
            </a:r>
            <a:r>
              <a:rPr sz="3000" spc="-26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54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risk</a:t>
            </a:r>
            <a:r>
              <a:rPr sz="3000" spc="-26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5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tied</a:t>
            </a:r>
            <a:r>
              <a:rPr sz="3000" spc="-26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3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to</a:t>
            </a:r>
            <a:r>
              <a:rPr sz="3000" spc="-26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9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sales 	</a:t>
            </a:r>
            <a:r>
              <a:rPr sz="3000" spc="-17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volume.</a:t>
            </a:r>
            <a:r>
              <a:rPr sz="3000" spc="-27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4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This</a:t>
            </a:r>
            <a:r>
              <a:rPr sz="3000" spc="-26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1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results</a:t>
            </a:r>
            <a:r>
              <a:rPr sz="3000" spc="-27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2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in</a:t>
            </a:r>
            <a:r>
              <a:rPr sz="3000" spc="-26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7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lost</a:t>
            </a:r>
            <a:r>
              <a:rPr sz="3000" spc="-26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0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revenue,</a:t>
            </a:r>
            <a:r>
              <a:rPr sz="3000" spc="-27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8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wasted 	</a:t>
            </a:r>
            <a:r>
              <a:rPr sz="3000" spc="-20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capital</a:t>
            </a:r>
            <a:r>
              <a:rPr sz="3000" spc="-26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2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in</a:t>
            </a:r>
            <a:r>
              <a:rPr sz="3000" spc="-254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6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inventory,</a:t>
            </a:r>
            <a:r>
              <a:rPr sz="3000" spc="-254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6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and</a:t>
            </a:r>
            <a:r>
              <a:rPr sz="3000" spc="-254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4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missed</a:t>
            </a:r>
            <a:r>
              <a:rPr sz="3000" spc="-26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1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cross-</a:t>
            </a:r>
            <a:r>
              <a:rPr sz="3000" spc="-15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selling</a:t>
            </a:r>
            <a:endParaRPr sz="3000" dirty="0">
              <a:latin typeface="Verdana" panose="020B0604030504040204" pitchFamily="34" charset="0"/>
              <a:ea typeface="Verdana" panose="020B0604030504040204" pitchFamily="34" charset="0"/>
              <a:cs typeface="Arial Black"/>
            </a:endParaRPr>
          </a:p>
          <a:p>
            <a:pPr marL="659765" marR="5080">
              <a:lnSpc>
                <a:spcPts val="4200"/>
              </a:lnSpc>
            </a:pPr>
            <a:r>
              <a:rPr sz="3000" spc="-15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opportunities</a:t>
            </a:r>
            <a:r>
              <a:rPr sz="3000" spc="-254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6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because</a:t>
            </a:r>
            <a:r>
              <a:rPr sz="3000" spc="-25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8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sales</a:t>
            </a:r>
            <a:r>
              <a:rPr sz="3000" spc="-25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1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reps</a:t>
            </a:r>
            <a:r>
              <a:rPr sz="3000" spc="-25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29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are</a:t>
            </a:r>
            <a:r>
              <a:rPr sz="3000" spc="-25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8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operating</a:t>
            </a:r>
            <a:r>
              <a:rPr sz="3000" spc="-25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2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on </a:t>
            </a:r>
            <a:r>
              <a:rPr sz="3000" spc="-13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intuition</a:t>
            </a:r>
            <a:r>
              <a:rPr sz="3000" spc="-24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7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rather</a:t>
            </a:r>
            <a:r>
              <a:rPr sz="3000" spc="-24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7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than</a:t>
            </a:r>
            <a:r>
              <a:rPr sz="3000" spc="-235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7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predictive</a:t>
            </a:r>
            <a:r>
              <a:rPr sz="3000" spc="-24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sz="3000" spc="-10" dirty="0">
                <a:solidFill>
                  <a:srgbClr val="1F202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data.</a:t>
            </a:r>
            <a:endParaRPr sz="3000" dirty="0">
              <a:latin typeface="Verdana" panose="020B0604030504040204" pitchFamily="34" charset="0"/>
              <a:ea typeface="Verdana" panose="020B0604030504040204" pitchFamily="34" charset="0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659263" y="9627163"/>
            <a:ext cx="229235" cy="26797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400" spc="-110" dirty="0">
                <a:solidFill>
                  <a:srgbClr val="FFFFFF"/>
                </a:solidFill>
                <a:latin typeface="Arial Black"/>
                <a:cs typeface="Arial Black"/>
              </a:rPr>
              <a:t>02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32884" y="456026"/>
            <a:ext cx="7105015" cy="710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00" spc="-170" dirty="0">
                <a:solidFill>
                  <a:srgbClr val="1F2020"/>
                </a:solidFill>
              </a:rPr>
              <a:t>The</a:t>
            </a:r>
            <a:r>
              <a:rPr sz="4500" spc="-505" dirty="0">
                <a:solidFill>
                  <a:srgbClr val="1F2020"/>
                </a:solidFill>
              </a:rPr>
              <a:t> </a:t>
            </a:r>
            <a:r>
              <a:rPr sz="4500" spc="-75" dirty="0">
                <a:solidFill>
                  <a:srgbClr val="1F2020"/>
                </a:solidFill>
              </a:rPr>
              <a:t>Problem</a:t>
            </a:r>
            <a:r>
              <a:rPr sz="4500" spc="-475" dirty="0">
                <a:solidFill>
                  <a:srgbClr val="1F2020"/>
                </a:solidFill>
              </a:rPr>
              <a:t> </a:t>
            </a:r>
            <a:r>
              <a:rPr sz="4500" spc="-55" dirty="0">
                <a:solidFill>
                  <a:srgbClr val="1F2020"/>
                </a:solidFill>
              </a:rPr>
              <a:t>Statement</a:t>
            </a:r>
            <a:endParaRPr sz="4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1695" y="1682750"/>
            <a:ext cx="18086705" cy="8604250"/>
            <a:chOff x="201695" y="1682750"/>
            <a:chExt cx="18086705" cy="86042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59299" y="7527479"/>
              <a:ext cx="1028700" cy="27595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1695" y="1682750"/>
              <a:ext cx="17983199" cy="688657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345364" y="7108235"/>
            <a:ext cx="287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5" dirty="0">
                <a:solidFill>
                  <a:srgbClr val="FFFFFF"/>
                </a:solidFill>
                <a:latin typeface="Arial Black"/>
                <a:cs typeface="Arial Black"/>
              </a:rPr>
              <a:t>01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59263" y="9627163"/>
            <a:ext cx="229235" cy="26797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400" spc="-110" dirty="0">
                <a:solidFill>
                  <a:srgbClr val="FFFFFF"/>
                </a:solidFill>
                <a:latin typeface="Arial Black"/>
                <a:cs typeface="Arial Black"/>
              </a:rPr>
              <a:t>03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7568" rIns="0" bIns="0" rtlCol="0">
            <a:spAutoFit/>
          </a:bodyPr>
          <a:lstStyle/>
          <a:p>
            <a:pPr marL="3717925">
              <a:lnSpc>
                <a:spcPct val="100000"/>
              </a:lnSpc>
              <a:spcBef>
                <a:spcPts val="100"/>
              </a:spcBef>
            </a:pPr>
            <a:r>
              <a:rPr sz="4000" spc="-65" dirty="0">
                <a:solidFill>
                  <a:srgbClr val="1F2020"/>
                </a:solidFill>
              </a:rPr>
              <a:t>Project</a:t>
            </a:r>
            <a:r>
              <a:rPr sz="4000" spc="-335" dirty="0">
                <a:solidFill>
                  <a:srgbClr val="1F2020"/>
                </a:solidFill>
              </a:rPr>
              <a:t> </a:t>
            </a:r>
            <a:r>
              <a:rPr sz="4000" spc="-65" dirty="0">
                <a:solidFill>
                  <a:srgbClr val="1F2020"/>
                </a:solidFill>
              </a:rPr>
              <a:t>Pipeline</a:t>
            </a:r>
            <a:endParaRPr sz="4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9300" y="7527480"/>
            <a:ext cx="1028700" cy="27595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35381" y="2971846"/>
            <a:ext cx="133349" cy="1333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35381" y="4038646"/>
            <a:ext cx="133349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35381" y="5105445"/>
            <a:ext cx="133349" cy="1333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156056" y="2701970"/>
            <a:ext cx="8496300" cy="3225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49910">
              <a:lnSpc>
                <a:spcPct val="116700"/>
              </a:lnSpc>
              <a:spcBef>
                <a:spcPts val="95"/>
              </a:spcBef>
            </a:pPr>
            <a:r>
              <a:rPr sz="3000" spc="-225" dirty="0">
                <a:solidFill>
                  <a:srgbClr val="1F2020"/>
                </a:solidFill>
                <a:latin typeface="Arial Black"/>
                <a:cs typeface="Arial Black"/>
              </a:rPr>
              <a:t>Database:</a:t>
            </a:r>
            <a:r>
              <a:rPr sz="3000" spc="-220" dirty="0">
                <a:solidFill>
                  <a:srgbClr val="1F2020"/>
                </a:solidFill>
                <a:latin typeface="Arial Black"/>
                <a:cs typeface="Arial Black"/>
              </a:rPr>
              <a:t> </a:t>
            </a:r>
            <a:r>
              <a:rPr sz="3000" spc="-250" dirty="0">
                <a:solidFill>
                  <a:srgbClr val="1F2020"/>
                </a:solidFill>
                <a:latin typeface="Arial Black"/>
                <a:cs typeface="Arial Black"/>
              </a:rPr>
              <a:t>PostgreSQL</a:t>
            </a:r>
            <a:r>
              <a:rPr sz="3000" spc="-215" dirty="0">
                <a:solidFill>
                  <a:srgbClr val="1F2020"/>
                </a:solidFill>
                <a:latin typeface="Arial Black"/>
                <a:cs typeface="Arial Black"/>
              </a:rPr>
              <a:t> </a:t>
            </a:r>
            <a:r>
              <a:rPr sz="3000" spc="-175" dirty="0">
                <a:solidFill>
                  <a:srgbClr val="1F2020"/>
                </a:solidFill>
                <a:latin typeface="Arial Black"/>
                <a:cs typeface="Arial Black"/>
              </a:rPr>
              <a:t>(Materialized</a:t>
            </a:r>
            <a:r>
              <a:rPr sz="3000" spc="-215" dirty="0">
                <a:solidFill>
                  <a:srgbClr val="1F2020"/>
                </a:solidFill>
                <a:latin typeface="Arial Black"/>
                <a:cs typeface="Arial Black"/>
              </a:rPr>
              <a:t> </a:t>
            </a:r>
            <a:r>
              <a:rPr sz="3000" spc="-310" dirty="0">
                <a:solidFill>
                  <a:srgbClr val="1F2020"/>
                </a:solidFill>
                <a:latin typeface="Arial Black"/>
                <a:cs typeface="Arial Black"/>
              </a:rPr>
              <a:t>Views, </a:t>
            </a:r>
            <a:r>
              <a:rPr sz="3000" spc="-200" dirty="0">
                <a:solidFill>
                  <a:srgbClr val="1F2020"/>
                </a:solidFill>
                <a:latin typeface="Arial Black"/>
                <a:cs typeface="Arial Black"/>
              </a:rPr>
              <a:t>Relational</a:t>
            </a:r>
            <a:r>
              <a:rPr sz="3000" spc="-204" dirty="0">
                <a:solidFill>
                  <a:srgbClr val="1F2020"/>
                </a:solidFill>
                <a:latin typeface="Arial Black"/>
                <a:cs typeface="Arial Black"/>
              </a:rPr>
              <a:t> </a:t>
            </a:r>
            <a:r>
              <a:rPr sz="3000" spc="-90" dirty="0">
                <a:solidFill>
                  <a:srgbClr val="1F2020"/>
                </a:solidFill>
                <a:latin typeface="Arial Black"/>
                <a:cs typeface="Arial Black"/>
              </a:rPr>
              <a:t>Schema)</a:t>
            </a:r>
            <a:endParaRPr sz="3000">
              <a:latin typeface="Arial Black"/>
              <a:cs typeface="Arial Black"/>
            </a:endParaRPr>
          </a:p>
          <a:p>
            <a:pPr marL="12700" marR="530860">
              <a:lnSpc>
                <a:spcPts val="4200"/>
              </a:lnSpc>
              <a:spcBef>
                <a:spcPts val="240"/>
              </a:spcBef>
            </a:pPr>
            <a:r>
              <a:rPr sz="3000" spc="-254" dirty="0">
                <a:solidFill>
                  <a:srgbClr val="1F2020"/>
                </a:solidFill>
                <a:latin typeface="Arial Black"/>
                <a:cs typeface="Arial Black"/>
              </a:rPr>
              <a:t>Backend</a:t>
            </a:r>
            <a:r>
              <a:rPr sz="3000" spc="-265" dirty="0">
                <a:solidFill>
                  <a:srgbClr val="1F2020"/>
                </a:solidFill>
                <a:latin typeface="Arial Black"/>
                <a:cs typeface="Arial Black"/>
              </a:rPr>
              <a:t> </a:t>
            </a:r>
            <a:r>
              <a:rPr sz="3000" spc="415" dirty="0">
                <a:solidFill>
                  <a:srgbClr val="1F2020"/>
                </a:solidFill>
                <a:latin typeface="Arial Black"/>
                <a:cs typeface="Arial Black"/>
              </a:rPr>
              <a:t>/</a:t>
            </a:r>
            <a:r>
              <a:rPr sz="3000" spc="-260" dirty="0">
                <a:solidFill>
                  <a:srgbClr val="1F2020"/>
                </a:solidFill>
                <a:latin typeface="Arial Black"/>
                <a:cs typeface="Arial Black"/>
              </a:rPr>
              <a:t> </a:t>
            </a:r>
            <a:r>
              <a:rPr sz="3000" spc="-200" dirty="0">
                <a:solidFill>
                  <a:srgbClr val="1F2020"/>
                </a:solidFill>
                <a:latin typeface="Arial Black"/>
                <a:cs typeface="Arial Black"/>
              </a:rPr>
              <a:t>ML</a:t>
            </a:r>
            <a:r>
              <a:rPr sz="3000" spc="-260" dirty="0">
                <a:solidFill>
                  <a:srgbClr val="1F2020"/>
                </a:solidFill>
                <a:latin typeface="Arial Black"/>
                <a:cs typeface="Arial Black"/>
              </a:rPr>
              <a:t> </a:t>
            </a:r>
            <a:r>
              <a:rPr sz="3000" spc="-215" dirty="0">
                <a:solidFill>
                  <a:srgbClr val="1F2020"/>
                </a:solidFill>
                <a:latin typeface="Arial Black"/>
                <a:cs typeface="Arial Black"/>
              </a:rPr>
              <a:t>Engine:</a:t>
            </a:r>
            <a:r>
              <a:rPr sz="3000" spc="-260" dirty="0">
                <a:solidFill>
                  <a:srgbClr val="1F2020"/>
                </a:solidFill>
                <a:latin typeface="Arial Black"/>
                <a:cs typeface="Arial Black"/>
              </a:rPr>
              <a:t> </a:t>
            </a:r>
            <a:r>
              <a:rPr sz="3000" spc="-145" dirty="0">
                <a:solidFill>
                  <a:srgbClr val="1F2020"/>
                </a:solidFill>
                <a:latin typeface="Arial Black"/>
                <a:cs typeface="Arial Black"/>
              </a:rPr>
              <a:t>Python,</a:t>
            </a:r>
            <a:r>
              <a:rPr sz="3000" spc="-260" dirty="0">
                <a:solidFill>
                  <a:srgbClr val="1F2020"/>
                </a:solidFill>
                <a:latin typeface="Arial Black"/>
                <a:cs typeface="Arial Black"/>
              </a:rPr>
              <a:t> </a:t>
            </a:r>
            <a:r>
              <a:rPr sz="3000" spc="-235" dirty="0">
                <a:solidFill>
                  <a:srgbClr val="1F2020"/>
                </a:solidFill>
                <a:latin typeface="Arial Black"/>
                <a:cs typeface="Arial Black"/>
              </a:rPr>
              <a:t>Scikit-</a:t>
            </a:r>
            <a:r>
              <a:rPr sz="3000" spc="-105" dirty="0">
                <a:solidFill>
                  <a:srgbClr val="1F2020"/>
                </a:solidFill>
                <a:latin typeface="Arial Black"/>
                <a:cs typeface="Arial Black"/>
              </a:rPr>
              <a:t>Learn, </a:t>
            </a:r>
            <a:r>
              <a:rPr sz="3000" spc="-204" dirty="0">
                <a:solidFill>
                  <a:srgbClr val="1F2020"/>
                </a:solidFill>
                <a:latin typeface="Arial Black"/>
                <a:cs typeface="Arial Black"/>
              </a:rPr>
              <a:t>LightGBM,</a:t>
            </a:r>
            <a:r>
              <a:rPr sz="3000" spc="-210" dirty="0">
                <a:solidFill>
                  <a:srgbClr val="1F2020"/>
                </a:solidFill>
                <a:latin typeface="Arial Black"/>
                <a:cs typeface="Arial Black"/>
              </a:rPr>
              <a:t> </a:t>
            </a:r>
            <a:r>
              <a:rPr sz="3000" spc="-60" dirty="0">
                <a:solidFill>
                  <a:srgbClr val="1F2020"/>
                </a:solidFill>
                <a:latin typeface="Arial Black"/>
                <a:cs typeface="Arial Black"/>
              </a:rPr>
              <a:t>HDBSCAN</a:t>
            </a:r>
            <a:endParaRPr sz="3000">
              <a:latin typeface="Arial Black"/>
              <a:cs typeface="Arial Black"/>
            </a:endParaRPr>
          </a:p>
          <a:p>
            <a:pPr marL="12700" marR="5080">
              <a:lnSpc>
                <a:spcPts val="4200"/>
              </a:lnSpc>
            </a:pPr>
            <a:r>
              <a:rPr sz="3000" spc="-160" dirty="0">
                <a:solidFill>
                  <a:srgbClr val="1F2020"/>
                </a:solidFill>
                <a:latin typeface="Arial Black"/>
                <a:cs typeface="Arial Black"/>
              </a:rPr>
              <a:t>Frontend</a:t>
            </a:r>
            <a:r>
              <a:rPr sz="3000" spc="-250" dirty="0">
                <a:solidFill>
                  <a:srgbClr val="1F2020"/>
                </a:solidFill>
                <a:latin typeface="Arial Black"/>
                <a:cs typeface="Arial Black"/>
              </a:rPr>
              <a:t> </a:t>
            </a:r>
            <a:r>
              <a:rPr sz="3000" spc="-155" dirty="0">
                <a:solidFill>
                  <a:srgbClr val="1F2020"/>
                </a:solidFill>
                <a:latin typeface="Arial Black"/>
                <a:cs typeface="Arial Black"/>
              </a:rPr>
              <a:t>App:</a:t>
            </a:r>
            <a:r>
              <a:rPr sz="3000" spc="-245" dirty="0">
                <a:solidFill>
                  <a:srgbClr val="1F2020"/>
                </a:solidFill>
                <a:latin typeface="Arial Black"/>
                <a:cs typeface="Arial Black"/>
              </a:rPr>
              <a:t> </a:t>
            </a:r>
            <a:r>
              <a:rPr sz="3000" spc="-180" dirty="0">
                <a:solidFill>
                  <a:srgbClr val="1F2020"/>
                </a:solidFill>
                <a:latin typeface="Arial Black"/>
                <a:cs typeface="Arial Black"/>
              </a:rPr>
              <a:t>Streamlit</a:t>
            </a:r>
            <a:r>
              <a:rPr sz="3000" spc="-245" dirty="0">
                <a:solidFill>
                  <a:srgbClr val="1F2020"/>
                </a:solidFill>
                <a:latin typeface="Arial Black"/>
                <a:cs typeface="Arial Black"/>
              </a:rPr>
              <a:t> </a:t>
            </a:r>
            <a:r>
              <a:rPr sz="3000" spc="-180" dirty="0">
                <a:solidFill>
                  <a:srgbClr val="1F2020"/>
                </a:solidFill>
                <a:latin typeface="Arial Black"/>
                <a:cs typeface="Arial Black"/>
              </a:rPr>
              <a:t>(Dynamic</a:t>
            </a:r>
            <a:r>
              <a:rPr sz="3000" spc="-245" dirty="0">
                <a:solidFill>
                  <a:srgbClr val="1F2020"/>
                </a:solidFill>
                <a:latin typeface="Arial Black"/>
                <a:cs typeface="Arial Black"/>
              </a:rPr>
              <a:t> </a:t>
            </a:r>
            <a:r>
              <a:rPr sz="3000" spc="-170" dirty="0">
                <a:solidFill>
                  <a:srgbClr val="1F2020"/>
                </a:solidFill>
                <a:latin typeface="Arial Black"/>
                <a:cs typeface="Arial Black"/>
              </a:rPr>
              <a:t>interactive </a:t>
            </a:r>
            <a:r>
              <a:rPr sz="3000" spc="-95" dirty="0">
                <a:solidFill>
                  <a:srgbClr val="1F2020"/>
                </a:solidFill>
                <a:latin typeface="Arial Black"/>
                <a:cs typeface="Arial Black"/>
              </a:rPr>
              <a:t>dashboards)</a:t>
            </a:r>
            <a:endParaRPr sz="30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659263" y="9627163"/>
            <a:ext cx="229235" cy="26797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400" spc="-110" dirty="0">
                <a:solidFill>
                  <a:srgbClr val="FFFFFF"/>
                </a:solidFill>
                <a:latin typeface="Arial Black"/>
                <a:cs typeface="Arial Black"/>
              </a:rPr>
              <a:t>02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279868" y="1622607"/>
            <a:ext cx="5437505" cy="710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00" spc="-80" dirty="0">
                <a:solidFill>
                  <a:srgbClr val="1F2020"/>
                </a:solidFill>
              </a:rPr>
              <a:t>Technology</a:t>
            </a:r>
            <a:r>
              <a:rPr sz="4500" spc="-385" dirty="0">
                <a:solidFill>
                  <a:srgbClr val="1F2020"/>
                </a:solidFill>
              </a:rPr>
              <a:t> </a:t>
            </a:r>
            <a:r>
              <a:rPr sz="4500" spc="-80" dirty="0">
                <a:solidFill>
                  <a:srgbClr val="1F2020"/>
                </a:solidFill>
              </a:rPr>
              <a:t>Stack</a:t>
            </a:r>
            <a:endParaRPr sz="4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9300" y="7527480"/>
            <a:ext cx="1028700" cy="275951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271381" y="1780470"/>
            <a:ext cx="2136775" cy="803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900" spc="-200" dirty="0">
                <a:latin typeface="Arial Black"/>
                <a:cs typeface="Arial Black"/>
              </a:rPr>
              <a:t>View</a:t>
            </a:r>
            <a:r>
              <a:rPr sz="1900" spc="-165" dirty="0">
                <a:latin typeface="Arial Black"/>
                <a:cs typeface="Arial Black"/>
              </a:rPr>
              <a:t> </a:t>
            </a:r>
            <a:r>
              <a:rPr sz="1900" spc="-20" dirty="0">
                <a:latin typeface="Arial Black"/>
                <a:cs typeface="Arial Black"/>
              </a:rPr>
              <a:t>Name</a:t>
            </a:r>
            <a:endParaRPr sz="19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9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9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900" spc="-20" dirty="0">
                <a:latin typeface="Verdana"/>
                <a:cs typeface="Verdana"/>
              </a:rPr>
              <a:t>view_ml_input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900">
              <a:latin typeface="Verdana"/>
              <a:cs typeface="Verdana"/>
            </a:endParaRPr>
          </a:p>
          <a:p>
            <a:pPr marL="48260" marR="40640" algn="ctr">
              <a:lnSpc>
                <a:spcPct val="115100"/>
              </a:lnSpc>
            </a:pPr>
            <a:r>
              <a:rPr sz="1900" spc="-65" dirty="0">
                <a:latin typeface="Verdana"/>
                <a:cs typeface="Verdana"/>
              </a:rPr>
              <a:t>fact_sales_intellig </a:t>
            </a:r>
            <a:r>
              <a:rPr sz="1900" spc="-20" dirty="0">
                <a:latin typeface="Verdana"/>
                <a:cs typeface="Verdana"/>
              </a:rPr>
              <a:t>ence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1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900" spc="-90" dirty="0">
                <a:latin typeface="Verdana"/>
                <a:cs typeface="Verdana"/>
              </a:rPr>
              <a:t>view_ageing_stock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00"/>
              </a:spcBef>
            </a:pPr>
            <a:endParaRPr sz="1900">
              <a:latin typeface="Verdana"/>
              <a:cs typeface="Verdana"/>
            </a:endParaRPr>
          </a:p>
          <a:p>
            <a:pPr algn="ctr">
              <a:lnSpc>
                <a:spcPct val="115100"/>
              </a:lnSpc>
            </a:pPr>
            <a:r>
              <a:rPr sz="1900" spc="-80" dirty="0">
                <a:latin typeface="Verdana"/>
                <a:cs typeface="Verdana"/>
              </a:rPr>
              <a:t>view_stock_liquida </a:t>
            </a:r>
            <a:r>
              <a:rPr sz="1900" spc="-10" dirty="0">
                <a:latin typeface="Verdana"/>
                <a:cs typeface="Verdana"/>
              </a:rPr>
              <a:t>tion_leads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70"/>
              </a:spcBef>
            </a:pPr>
            <a:endParaRPr sz="1900">
              <a:latin typeface="Verdana"/>
              <a:cs typeface="Verdana"/>
            </a:endParaRPr>
          </a:p>
          <a:p>
            <a:pPr marL="45720" marR="38100" algn="ctr">
              <a:lnSpc>
                <a:spcPct val="115100"/>
              </a:lnSpc>
              <a:spcBef>
                <a:spcPts val="5"/>
              </a:spcBef>
            </a:pPr>
            <a:r>
              <a:rPr sz="1900" spc="-75" dirty="0">
                <a:latin typeface="Verdana"/>
                <a:cs typeface="Verdana"/>
              </a:rPr>
              <a:t>view_product_ass </a:t>
            </a:r>
            <a:r>
              <a:rPr sz="1900" spc="-10" dirty="0">
                <a:latin typeface="Verdana"/>
                <a:cs typeface="Verdana"/>
              </a:rPr>
              <a:t>ociations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900">
              <a:latin typeface="Verdana"/>
              <a:cs typeface="Verdana"/>
            </a:endParaRPr>
          </a:p>
          <a:p>
            <a:pPr marL="60960" marR="53340" algn="ctr">
              <a:lnSpc>
                <a:spcPct val="115100"/>
              </a:lnSpc>
            </a:pPr>
            <a:r>
              <a:rPr sz="1900" spc="-125" dirty="0">
                <a:latin typeface="Verdana"/>
                <a:cs typeface="Verdana"/>
              </a:rPr>
              <a:t>view_partner_ar_s </a:t>
            </a:r>
            <a:r>
              <a:rPr sz="1900" spc="-10" dirty="0">
                <a:latin typeface="Verdana"/>
                <a:cs typeface="Verdana"/>
              </a:rPr>
              <a:t>ummary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00"/>
              </a:spcBef>
            </a:pPr>
            <a:endParaRPr sz="1900">
              <a:latin typeface="Verdana"/>
              <a:cs typeface="Verdana"/>
            </a:endParaRPr>
          </a:p>
          <a:p>
            <a:pPr marL="20955" marR="12700" algn="ctr">
              <a:lnSpc>
                <a:spcPct val="115100"/>
              </a:lnSpc>
            </a:pPr>
            <a:r>
              <a:rPr sz="1900" spc="-95" dirty="0">
                <a:latin typeface="Verdana"/>
                <a:cs typeface="Verdana"/>
              </a:rPr>
              <a:t>view_partner_cred </a:t>
            </a:r>
            <a:r>
              <a:rPr sz="1900" spc="-20" dirty="0">
                <a:latin typeface="Verdana"/>
                <a:cs typeface="Verdana"/>
              </a:rPr>
              <a:t>it_risk_score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04682" y="1942395"/>
            <a:ext cx="8468360" cy="77076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900" spc="55" dirty="0">
                <a:latin typeface="Lucida Sans Unicode"/>
                <a:cs typeface="Lucida Sans Unicode"/>
              </a:rPr>
              <a:t>What</a:t>
            </a:r>
            <a:r>
              <a:rPr sz="1900" spc="-150" dirty="0">
                <a:latin typeface="Lucida Sans Unicode"/>
                <a:cs typeface="Lucida Sans Unicode"/>
              </a:rPr>
              <a:t> </a:t>
            </a:r>
            <a:r>
              <a:rPr sz="1900" spc="55" dirty="0">
                <a:latin typeface="Lucida Sans Unicode"/>
                <a:cs typeface="Lucida Sans Unicode"/>
              </a:rPr>
              <a:t>It</a:t>
            </a:r>
            <a:r>
              <a:rPr sz="1900" spc="-140" dirty="0">
                <a:latin typeface="Lucida Sans Unicode"/>
                <a:cs typeface="Lucida Sans Unicode"/>
              </a:rPr>
              <a:t> </a:t>
            </a:r>
            <a:r>
              <a:rPr sz="1900" spc="-20" dirty="0">
                <a:latin typeface="Lucida Sans Unicode"/>
                <a:cs typeface="Lucida Sans Unicode"/>
              </a:rPr>
              <a:t>Does</a:t>
            </a:r>
            <a:endParaRPr sz="1900" dirty="0">
              <a:latin typeface="Lucida Sans Unicode"/>
              <a:cs typeface="Lucida Sans Unicode"/>
            </a:endParaRPr>
          </a:p>
          <a:p>
            <a:pPr algn="ctr">
              <a:lnSpc>
                <a:spcPct val="314500"/>
              </a:lnSpc>
              <a:spcBef>
                <a:spcPts val="35"/>
              </a:spcBef>
            </a:pPr>
            <a:r>
              <a:rPr sz="1900" spc="-65" dirty="0">
                <a:latin typeface="Verdana"/>
                <a:cs typeface="Verdana"/>
              </a:rPr>
              <a:t>Per-</a:t>
            </a:r>
            <a:r>
              <a:rPr sz="1900" spc="-35" dirty="0">
                <a:latin typeface="Verdana"/>
                <a:cs typeface="Verdana"/>
              </a:rPr>
              <a:t>partner</a:t>
            </a:r>
            <a:r>
              <a:rPr sz="1900" spc="-165" dirty="0">
                <a:latin typeface="Verdana"/>
                <a:cs typeface="Verdana"/>
              </a:rPr>
              <a:t> </a:t>
            </a:r>
            <a:r>
              <a:rPr sz="1900" spc="-45" dirty="0">
                <a:latin typeface="Verdana"/>
                <a:cs typeface="Verdana"/>
              </a:rPr>
              <a:t>feature</a:t>
            </a:r>
            <a:r>
              <a:rPr sz="1900" spc="-160" dirty="0">
                <a:latin typeface="Verdana"/>
                <a:cs typeface="Verdana"/>
              </a:rPr>
              <a:t> </a:t>
            </a:r>
            <a:r>
              <a:rPr sz="1900" spc="-80" dirty="0">
                <a:latin typeface="Verdana"/>
                <a:cs typeface="Verdana"/>
              </a:rPr>
              <a:t>matrix</a:t>
            </a:r>
            <a:r>
              <a:rPr sz="1900" spc="-160" dirty="0">
                <a:latin typeface="Verdana"/>
                <a:cs typeface="Verdana"/>
              </a:rPr>
              <a:t> </a:t>
            </a:r>
            <a:r>
              <a:rPr sz="1900" spc="-400" dirty="0">
                <a:latin typeface="Verdana"/>
                <a:cs typeface="Verdana"/>
              </a:rPr>
              <a:t>—</a:t>
            </a:r>
            <a:r>
              <a:rPr sz="1900" spc="-160" dirty="0">
                <a:latin typeface="Verdana"/>
                <a:cs typeface="Verdana"/>
              </a:rPr>
              <a:t> </a:t>
            </a:r>
            <a:r>
              <a:rPr sz="1900" spc="-85" dirty="0">
                <a:latin typeface="Verdana"/>
                <a:cs typeface="Verdana"/>
              </a:rPr>
              <a:t>revenue,</a:t>
            </a:r>
            <a:r>
              <a:rPr sz="1900" spc="-160" dirty="0">
                <a:latin typeface="Verdana"/>
                <a:cs typeface="Verdana"/>
              </a:rPr>
              <a:t> </a:t>
            </a:r>
            <a:r>
              <a:rPr sz="1900" spc="-70" dirty="0">
                <a:latin typeface="Verdana"/>
                <a:cs typeface="Verdana"/>
              </a:rPr>
              <a:t>recency,</a:t>
            </a:r>
            <a:r>
              <a:rPr sz="1900" spc="-160" dirty="0">
                <a:latin typeface="Verdana"/>
                <a:cs typeface="Verdana"/>
              </a:rPr>
              <a:t> </a:t>
            </a:r>
            <a:r>
              <a:rPr sz="1900" spc="-30" dirty="0">
                <a:latin typeface="Verdana"/>
                <a:cs typeface="Verdana"/>
              </a:rPr>
              <a:t>order</a:t>
            </a:r>
            <a:r>
              <a:rPr sz="1900" spc="-165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count</a:t>
            </a:r>
            <a:r>
              <a:rPr sz="1900" spc="-160" dirty="0">
                <a:latin typeface="Verdana"/>
                <a:cs typeface="Verdana"/>
              </a:rPr>
              <a:t> </a:t>
            </a:r>
            <a:r>
              <a:rPr sz="1900" spc="-75" dirty="0">
                <a:latin typeface="Verdana"/>
                <a:cs typeface="Verdana"/>
              </a:rPr>
              <a:t>(last</a:t>
            </a:r>
            <a:r>
              <a:rPr sz="1900" spc="-160" dirty="0">
                <a:latin typeface="Verdana"/>
                <a:cs typeface="Verdana"/>
              </a:rPr>
              <a:t> </a:t>
            </a:r>
            <a:r>
              <a:rPr sz="1900" spc="55" dirty="0">
                <a:latin typeface="Verdana"/>
                <a:cs typeface="Verdana"/>
              </a:rPr>
              <a:t>90</a:t>
            </a:r>
            <a:r>
              <a:rPr sz="1900" spc="-160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days) </a:t>
            </a:r>
            <a:r>
              <a:rPr sz="1900" spc="-25" dirty="0">
                <a:latin typeface="Verdana"/>
                <a:cs typeface="Verdana"/>
              </a:rPr>
              <a:t>Product-</a:t>
            </a:r>
            <a:r>
              <a:rPr sz="1900" spc="-35" dirty="0">
                <a:latin typeface="Verdana"/>
                <a:cs typeface="Verdana"/>
              </a:rPr>
              <a:t>level</a:t>
            </a:r>
            <a:r>
              <a:rPr sz="1900" spc="-160" dirty="0">
                <a:latin typeface="Verdana"/>
                <a:cs typeface="Verdana"/>
              </a:rPr>
              <a:t> </a:t>
            </a:r>
            <a:r>
              <a:rPr sz="1900" spc="-60" dirty="0">
                <a:latin typeface="Verdana"/>
                <a:cs typeface="Verdana"/>
              </a:rPr>
              <a:t>revenue</a:t>
            </a:r>
            <a:r>
              <a:rPr sz="1900" spc="-155" dirty="0">
                <a:latin typeface="Verdana"/>
                <a:cs typeface="Verdana"/>
              </a:rPr>
              <a:t> </a:t>
            </a:r>
            <a:r>
              <a:rPr sz="1900" spc="-30" dirty="0">
                <a:latin typeface="Verdana"/>
                <a:cs typeface="Verdana"/>
              </a:rPr>
              <a:t>with</a:t>
            </a:r>
            <a:r>
              <a:rPr sz="1900" spc="-160" dirty="0">
                <a:latin typeface="Verdana"/>
                <a:cs typeface="Verdana"/>
              </a:rPr>
              <a:t> </a:t>
            </a:r>
            <a:r>
              <a:rPr sz="1900" spc="-30" dirty="0">
                <a:latin typeface="Verdana"/>
                <a:cs typeface="Verdana"/>
              </a:rPr>
              <a:t>current</a:t>
            </a:r>
            <a:r>
              <a:rPr sz="1900" spc="-155" dirty="0">
                <a:latin typeface="Verdana"/>
                <a:cs typeface="Verdana"/>
              </a:rPr>
              <a:t> </a:t>
            </a:r>
            <a:r>
              <a:rPr sz="1900" spc="-50" dirty="0">
                <a:latin typeface="Verdana"/>
                <a:cs typeface="Verdana"/>
              </a:rPr>
              <a:t>vs</a:t>
            </a:r>
            <a:r>
              <a:rPr sz="1900" spc="-155" dirty="0">
                <a:latin typeface="Verdana"/>
                <a:cs typeface="Verdana"/>
              </a:rPr>
              <a:t> </a:t>
            </a:r>
            <a:r>
              <a:rPr sz="1900" spc="-40" dirty="0">
                <a:latin typeface="Verdana"/>
                <a:cs typeface="Verdana"/>
              </a:rPr>
              <a:t>previous</a:t>
            </a:r>
            <a:r>
              <a:rPr sz="1900" spc="-160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90-</a:t>
            </a:r>
            <a:r>
              <a:rPr sz="1900" spc="-55" dirty="0">
                <a:latin typeface="Verdana"/>
                <a:cs typeface="Verdana"/>
              </a:rPr>
              <a:t>day</a:t>
            </a:r>
            <a:r>
              <a:rPr sz="1900" spc="-155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windows </a:t>
            </a:r>
            <a:r>
              <a:rPr sz="1900" dirty="0">
                <a:latin typeface="Verdana"/>
                <a:cs typeface="Verdana"/>
              </a:rPr>
              <a:t>Products</a:t>
            </a:r>
            <a:r>
              <a:rPr sz="1900" spc="-190" dirty="0">
                <a:latin typeface="Verdana"/>
                <a:cs typeface="Verdana"/>
              </a:rPr>
              <a:t> </a:t>
            </a:r>
            <a:r>
              <a:rPr sz="1900" spc="-30" dirty="0">
                <a:latin typeface="Verdana"/>
                <a:cs typeface="Verdana"/>
              </a:rPr>
              <a:t>with</a:t>
            </a:r>
            <a:r>
              <a:rPr sz="1900" spc="-185" dirty="0">
                <a:latin typeface="Verdana"/>
                <a:cs typeface="Verdana"/>
              </a:rPr>
              <a:t> </a:t>
            </a:r>
            <a:r>
              <a:rPr sz="1900" spc="-40" dirty="0">
                <a:latin typeface="Verdana"/>
                <a:cs typeface="Verdana"/>
              </a:rPr>
              <a:t>stock</a:t>
            </a:r>
            <a:r>
              <a:rPr sz="1900" spc="-185" dirty="0">
                <a:latin typeface="Verdana"/>
                <a:cs typeface="Verdana"/>
              </a:rPr>
              <a:t> </a:t>
            </a:r>
            <a:r>
              <a:rPr sz="1900" spc="-545" dirty="0">
                <a:latin typeface="Verdana"/>
                <a:cs typeface="Verdana"/>
              </a:rPr>
              <a:t>&gt;</a:t>
            </a:r>
            <a:r>
              <a:rPr sz="1900" spc="-185" dirty="0">
                <a:latin typeface="Verdana"/>
                <a:cs typeface="Verdana"/>
              </a:rPr>
              <a:t> </a:t>
            </a:r>
            <a:r>
              <a:rPr sz="1900" spc="-70" dirty="0">
                <a:latin typeface="Verdana"/>
                <a:cs typeface="Verdana"/>
              </a:rPr>
              <a:t>10</a:t>
            </a:r>
            <a:r>
              <a:rPr sz="1900" spc="-185" dirty="0">
                <a:latin typeface="Verdana"/>
                <a:cs typeface="Verdana"/>
              </a:rPr>
              <a:t> </a:t>
            </a:r>
            <a:r>
              <a:rPr sz="1900" spc="-35" dirty="0">
                <a:latin typeface="Verdana"/>
                <a:cs typeface="Verdana"/>
              </a:rPr>
              <a:t>units</a:t>
            </a:r>
            <a:r>
              <a:rPr sz="1900" spc="-185" dirty="0">
                <a:latin typeface="Verdana"/>
                <a:cs typeface="Verdana"/>
              </a:rPr>
              <a:t> </a:t>
            </a:r>
            <a:r>
              <a:rPr sz="1900" spc="-30" dirty="0">
                <a:latin typeface="Verdana"/>
                <a:cs typeface="Verdana"/>
              </a:rPr>
              <a:t>and</a:t>
            </a:r>
            <a:r>
              <a:rPr sz="1900" spc="-185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no</a:t>
            </a:r>
            <a:r>
              <a:rPr sz="1900" spc="-185" dirty="0">
                <a:latin typeface="Verdana"/>
                <a:cs typeface="Verdana"/>
              </a:rPr>
              <a:t> </a:t>
            </a:r>
            <a:r>
              <a:rPr sz="1900" spc="-50" dirty="0">
                <a:latin typeface="Verdana"/>
                <a:cs typeface="Verdana"/>
              </a:rPr>
              <a:t>sale</a:t>
            </a:r>
            <a:r>
              <a:rPr sz="1900" spc="-190" dirty="0">
                <a:latin typeface="Verdana"/>
                <a:cs typeface="Verdana"/>
              </a:rPr>
              <a:t> </a:t>
            </a:r>
            <a:r>
              <a:rPr sz="1900" spc="-30" dirty="0">
                <a:latin typeface="Verdana"/>
                <a:cs typeface="Verdana"/>
              </a:rPr>
              <a:t>in</a:t>
            </a:r>
            <a:r>
              <a:rPr sz="1900" spc="-185" dirty="0">
                <a:latin typeface="Verdana"/>
                <a:cs typeface="Verdana"/>
              </a:rPr>
              <a:t> </a:t>
            </a:r>
            <a:r>
              <a:rPr sz="1900" spc="-160" dirty="0">
                <a:latin typeface="Verdana"/>
                <a:cs typeface="Verdana"/>
              </a:rPr>
              <a:t>60+</a:t>
            </a:r>
            <a:r>
              <a:rPr sz="1900" spc="-185" dirty="0">
                <a:latin typeface="Verdana"/>
                <a:cs typeface="Verdana"/>
              </a:rPr>
              <a:t> </a:t>
            </a:r>
            <a:r>
              <a:rPr sz="1900" spc="-20" dirty="0">
                <a:latin typeface="Verdana"/>
                <a:cs typeface="Verdana"/>
              </a:rPr>
              <a:t>days</a:t>
            </a:r>
            <a:endParaRPr sz="19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85"/>
              </a:spcBef>
            </a:pPr>
            <a:endParaRPr sz="1900" dirty="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900" spc="-45" dirty="0">
                <a:latin typeface="Verdana"/>
                <a:cs typeface="Verdana"/>
              </a:rPr>
              <a:t>Dead</a:t>
            </a:r>
            <a:r>
              <a:rPr sz="1900" spc="-170" dirty="0">
                <a:latin typeface="Verdana"/>
                <a:cs typeface="Verdana"/>
              </a:rPr>
              <a:t> </a:t>
            </a:r>
            <a:r>
              <a:rPr sz="1900" spc="-40" dirty="0">
                <a:latin typeface="Verdana"/>
                <a:cs typeface="Verdana"/>
              </a:rPr>
              <a:t>stock</a:t>
            </a:r>
            <a:r>
              <a:rPr sz="1900" spc="-165" dirty="0">
                <a:latin typeface="Verdana"/>
                <a:cs typeface="Verdana"/>
              </a:rPr>
              <a:t> </a:t>
            </a:r>
            <a:r>
              <a:rPr sz="1900" spc="-40" dirty="0">
                <a:latin typeface="Verdana"/>
                <a:cs typeface="Verdana"/>
              </a:rPr>
              <a:t>matched</a:t>
            </a:r>
            <a:r>
              <a:rPr sz="1900" spc="-165" dirty="0">
                <a:latin typeface="Verdana"/>
                <a:cs typeface="Verdana"/>
              </a:rPr>
              <a:t> </a:t>
            </a:r>
            <a:r>
              <a:rPr sz="1900" spc="-30" dirty="0">
                <a:latin typeface="Verdana"/>
                <a:cs typeface="Verdana"/>
              </a:rPr>
              <a:t>with</a:t>
            </a:r>
            <a:r>
              <a:rPr sz="1900" spc="-165" dirty="0">
                <a:latin typeface="Verdana"/>
                <a:cs typeface="Verdana"/>
              </a:rPr>
              <a:t> </a:t>
            </a:r>
            <a:r>
              <a:rPr sz="1900" spc="-40" dirty="0">
                <a:latin typeface="Verdana"/>
                <a:cs typeface="Verdana"/>
              </a:rPr>
              <a:t>partners</a:t>
            </a:r>
            <a:r>
              <a:rPr sz="1900" spc="-165" dirty="0">
                <a:latin typeface="Verdana"/>
                <a:cs typeface="Verdana"/>
              </a:rPr>
              <a:t> </a:t>
            </a:r>
            <a:r>
              <a:rPr sz="1900" spc="-30" dirty="0">
                <a:latin typeface="Verdana"/>
                <a:cs typeface="Verdana"/>
              </a:rPr>
              <a:t>who</a:t>
            </a:r>
            <a:r>
              <a:rPr sz="1900" spc="-165" dirty="0">
                <a:latin typeface="Verdana"/>
                <a:cs typeface="Verdana"/>
              </a:rPr>
              <a:t> </a:t>
            </a:r>
            <a:r>
              <a:rPr sz="1900" spc="-35" dirty="0">
                <a:latin typeface="Verdana"/>
                <a:cs typeface="Verdana"/>
              </a:rPr>
              <a:t>bought</a:t>
            </a:r>
            <a:r>
              <a:rPr sz="1900" spc="-165" dirty="0">
                <a:latin typeface="Verdana"/>
                <a:cs typeface="Verdana"/>
              </a:rPr>
              <a:t> </a:t>
            </a:r>
            <a:r>
              <a:rPr sz="1900" spc="-55" dirty="0">
                <a:latin typeface="Verdana"/>
                <a:cs typeface="Verdana"/>
              </a:rPr>
              <a:t>them</a:t>
            </a:r>
            <a:r>
              <a:rPr sz="1900" spc="-165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before</a:t>
            </a:r>
            <a:endParaRPr sz="1900" dirty="0">
              <a:latin typeface="Verdana"/>
              <a:cs typeface="Verdana"/>
            </a:endParaRPr>
          </a:p>
          <a:p>
            <a:pPr marL="678815" marR="671195" indent="-635" algn="ctr">
              <a:lnSpc>
                <a:spcPct val="372000"/>
              </a:lnSpc>
              <a:spcBef>
                <a:spcPts val="1275"/>
              </a:spcBef>
            </a:pPr>
            <a:r>
              <a:rPr sz="1900" dirty="0">
                <a:latin typeface="Verdana"/>
                <a:cs typeface="Verdana"/>
              </a:rPr>
              <a:t>Product</a:t>
            </a:r>
            <a:r>
              <a:rPr sz="1900" spc="-160" dirty="0">
                <a:latin typeface="Verdana"/>
                <a:cs typeface="Verdana"/>
              </a:rPr>
              <a:t> </a:t>
            </a:r>
            <a:r>
              <a:rPr sz="1900" spc="-25" dirty="0">
                <a:latin typeface="Verdana"/>
                <a:cs typeface="Verdana"/>
              </a:rPr>
              <a:t>co-</a:t>
            </a:r>
            <a:r>
              <a:rPr sz="1900" spc="-40" dirty="0">
                <a:latin typeface="Verdana"/>
                <a:cs typeface="Verdana"/>
              </a:rPr>
              <a:t>purchase</a:t>
            </a:r>
            <a:r>
              <a:rPr sz="1900" spc="-150" dirty="0">
                <a:latin typeface="Verdana"/>
                <a:cs typeface="Verdana"/>
              </a:rPr>
              <a:t> </a:t>
            </a:r>
            <a:r>
              <a:rPr sz="1900" spc="-30" dirty="0">
                <a:latin typeface="Verdana"/>
                <a:cs typeface="Verdana"/>
              </a:rPr>
              <a:t>frequencies</a:t>
            </a:r>
            <a:r>
              <a:rPr sz="1900" spc="-145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for</a:t>
            </a:r>
            <a:r>
              <a:rPr sz="1900" spc="-150" dirty="0">
                <a:latin typeface="Verdana"/>
                <a:cs typeface="Verdana"/>
              </a:rPr>
              <a:t> </a:t>
            </a:r>
            <a:r>
              <a:rPr sz="1900" spc="-50" dirty="0">
                <a:latin typeface="Verdana"/>
                <a:cs typeface="Verdana"/>
              </a:rPr>
              <a:t>Market</a:t>
            </a:r>
            <a:r>
              <a:rPr sz="1900" spc="-150" dirty="0">
                <a:latin typeface="Verdana"/>
                <a:cs typeface="Verdana"/>
              </a:rPr>
              <a:t> </a:t>
            </a:r>
            <a:r>
              <a:rPr sz="1900" spc="-70" dirty="0">
                <a:latin typeface="Verdana"/>
                <a:cs typeface="Verdana"/>
              </a:rPr>
              <a:t>Basket</a:t>
            </a:r>
            <a:r>
              <a:rPr sz="1900" spc="-145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Analysis Accounts</a:t>
            </a:r>
            <a:r>
              <a:rPr sz="1900" spc="-135" dirty="0">
                <a:latin typeface="Verdana"/>
                <a:cs typeface="Verdana"/>
              </a:rPr>
              <a:t> </a:t>
            </a:r>
            <a:r>
              <a:rPr sz="1900" spc="-40" dirty="0">
                <a:latin typeface="Verdana"/>
                <a:cs typeface="Verdana"/>
              </a:rPr>
              <a:t>receivable</a:t>
            </a:r>
            <a:r>
              <a:rPr sz="1900" spc="-135" dirty="0">
                <a:latin typeface="Verdana"/>
                <a:cs typeface="Verdana"/>
              </a:rPr>
              <a:t> </a:t>
            </a:r>
            <a:r>
              <a:rPr sz="1900" spc="-90" dirty="0">
                <a:latin typeface="Verdana"/>
                <a:cs typeface="Verdana"/>
              </a:rPr>
              <a:t>aging</a:t>
            </a:r>
            <a:r>
              <a:rPr sz="1900" spc="-135" dirty="0">
                <a:latin typeface="Verdana"/>
                <a:cs typeface="Verdana"/>
              </a:rPr>
              <a:t> </a:t>
            </a:r>
            <a:r>
              <a:rPr sz="1900" spc="-45" dirty="0">
                <a:latin typeface="Verdana"/>
                <a:cs typeface="Verdana"/>
              </a:rPr>
              <a:t>buckets</a:t>
            </a:r>
            <a:r>
              <a:rPr sz="1900" spc="-135" dirty="0">
                <a:latin typeface="Verdana"/>
                <a:cs typeface="Verdana"/>
              </a:rPr>
              <a:t> </a:t>
            </a:r>
            <a:r>
              <a:rPr sz="1900" spc="-114" dirty="0">
                <a:latin typeface="Verdana"/>
                <a:cs typeface="Verdana"/>
              </a:rPr>
              <a:t>(30/60/90/120/120+</a:t>
            </a:r>
            <a:r>
              <a:rPr sz="1900" spc="-135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days)</a:t>
            </a:r>
            <a:endParaRPr sz="19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900" dirty="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900" spc="-30" dirty="0">
                <a:latin typeface="Verdana"/>
                <a:cs typeface="Verdana"/>
              </a:rPr>
              <a:t>Composite</a:t>
            </a:r>
            <a:r>
              <a:rPr sz="1900" spc="-175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credit</a:t>
            </a:r>
            <a:r>
              <a:rPr sz="1900" spc="-170" dirty="0">
                <a:latin typeface="Verdana"/>
                <a:cs typeface="Verdana"/>
              </a:rPr>
              <a:t> </a:t>
            </a:r>
            <a:r>
              <a:rPr sz="1900" spc="-80" dirty="0">
                <a:latin typeface="Verdana"/>
                <a:cs typeface="Verdana"/>
              </a:rPr>
              <a:t>risk</a:t>
            </a:r>
            <a:r>
              <a:rPr sz="1900" spc="-170" dirty="0">
                <a:latin typeface="Verdana"/>
                <a:cs typeface="Verdana"/>
              </a:rPr>
              <a:t> </a:t>
            </a:r>
            <a:r>
              <a:rPr sz="1900" spc="-25" dirty="0">
                <a:latin typeface="Verdana"/>
                <a:cs typeface="Verdana"/>
              </a:rPr>
              <a:t>score</a:t>
            </a:r>
            <a:r>
              <a:rPr sz="1900" spc="-170" dirty="0">
                <a:latin typeface="Verdana"/>
                <a:cs typeface="Verdana"/>
              </a:rPr>
              <a:t> </a:t>
            </a:r>
            <a:r>
              <a:rPr sz="1900" spc="-180" dirty="0">
                <a:latin typeface="Verdana"/>
                <a:cs typeface="Verdana"/>
              </a:rPr>
              <a:t>(0–1)</a:t>
            </a:r>
            <a:r>
              <a:rPr sz="1900" spc="-170" dirty="0">
                <a:latin typeface="Verdana"/>
                <a:cs typeface="Verdana"/>
              </a:rPr>
              <a:t> </a:t>
            </a:r>
            <a:r>
              <a:rPr sz="1900" spc="-30" dirty="0">
                <a:latin typeface="Verdana"/>
                <a:cs typeface="Verdana"/>
              </a:rPr>
              <a:t>from</a:t>
            </a:r>
            <a:r>
              <a:rPr sz="1900" spc="-170" dirty="0">
                <a:latin typeface="Verdana"/>
                <a:cs typeface="Verdana"/>
              </a:rPr>
              <a:t> </a:t>
            </a:r>
            <a:r>
              <a:rPr sz="1900" spc="-65" dirty="0">
                <a:latin typeface="Verdana"/>
                <a:cs typeface="Verdana"/>
              </a:rPr>
              <a:t>AR</a:t>
            </a:r>
            <a:r>
              <a:rPr sz="1900" spc="-170" dirty="0">
                <a:latin typeface="Verdana"/>
                <a:cs typeface="Verdana"/>
              </a:rPr>
              <a:t> </a:t>
            </a:r>
            <a:r>
              <a:rPr sz="1900" spc="-20" dirty="0">
                <a:latin typeface="Verdana"/>
                <a:cs typeface="Verdana"/>
              </a:rPr>
              <a:t>data</a:t>
            </a:r>
            <a:endParaRPr sz="19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14794" y="3946989"/>
            <a:ext cx="287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5" dirty="0">
                <a:solidFill>
                  <a:srgbClr val="FFFFFF"/>
                </a:solidFill>
                <a:latin typeface="Arial Black"/>
                <a:cs typeface="Arial Black"/>
              </a:rPr>
              <a:t>01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659263" y="9627163"/>
            <a:ext cx="229235" cy="26797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400" spc="-110" dirty="0">
                <a:solidFill>
                  <a:srgbClr val="FFFFFF"/>
                </a:solidFill>
                <a:latin typeface="Arial Black"/>
                <a:cs typeface="Arial Black"/>
              </a:rPr>
              <a:t>04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491408" y="-187336"/>
            <a:ext cx="9305290" cy="1797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4110" marR="5080" indent="-1122045">
              <a:lnSpc>
                <a:spcPct val="116300"/>
              </a:lnSpc>
              <a:spcBef>
                <a:spcPts val="95"/>
              </a:spcBef>
            </a:pPr>
            <a:r>
              <a:rPr spc="-145" dirty="0"/>
              <a:t>Database</a:t>
            </a:r>
            <a:r>
              <a:rPr spc="-505" dirty="0"/>
              <a:t> </a:t>
            </a:r>
            <a:r>
              <a:rPr spc="-65" dirty="0"/>
              <a:t>Re-</a:t>
            </a:r>
            <a:r>
              <a:rPr spc="-105" dirty="0"/>
              <a:t>Architecture</a:t>
            </a:r>
            <a:r>
              <a:rPr spc="-505" dirty="0"/>
              <a:t> </a:t>
            </a:r>
            <a:r>
              <a:rPr spc="-855" dirty="0"/>
              <a:t>&amp; </a:t>
            </a:r>
            <a:r>
              <a:rPr spc="-195" dirty="0"/>
              <a:t>PostgreSQL</a:t>
            </a:r>
            <a:r>
              <a:rPr spc="-640" dirty="0"/>
              <a:t> </a:t>
            </a:r>
            <a:r>
              <a:rPr spc="-10" dirty="0"/>
              <a:t>Overhaul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9300" y="7527480"/>
            <a:ext cx="1028700" cy="27595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3305" y="4855172"/>
            <a:ext cx="123825" cy="1238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3305" y="5331422"/>
            <a:ext cx="123825" cy="1238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3305" y="5807672"/>
            <a:ext cx="123825" cy="1238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3305" y="6760171"/>
            <a:ext cx="123825" cy="1238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14380" y="1758258"/>
            <a:ext cx="15170150" cy="7645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56565">
              <a:lnSpc>
                <a:spcPct val="115700"/>
              </a:lnSpc>
              <a:spcBef>
                <a:spcPts val="100"/>
              </a:spcBef>
            </a:pPr>
            <a:r>
              <a:rPr sz="2700" spc="-250" dirty="0">
                <a:latin typeface="Arial Black"/>
                <a:cs typeface="Arial Black"/>
              </a:rPr>
              <a:t>The</a:t>
            </a:r>
            <a:r>
              <a:rPr sz="2700" spc="-229" dirty="0">
                <a:latin typeface="Arial Black"/>
                <a:cs typeface="Arial Black"/>
              </a:rPr>
              <a:t> </a:t>
            </a:r>
            <a:r>
              <a:rPr sz="2700" spc="-185" dirty="0">
                <a:latin typeface="Arial Black"/>
                <a:cs typeface="Arial Black"/>
              </a:rPr>
              <a:t>Goal:</a:t>
            </a:r>
            <a:r>
              <a:rPr sz="2700" spc="-195" dirty="0">
                <a:latin typeface="Arial Black"/>
                <a:cs typeface="Arial Black"/>
              </a:rPr>
              <a:t> </a:t>
            </a:r>
            <a:r>
              <a:rPr sz="2700" spc="-50" dirty="0">
                <a:latin typeface="Verdana"/>
                <a:cs typeface="Verdana"/>
              </a:rPr>
              <a:t>To</a:t>
            </a:r>
            <a:r>
              <a:rPr sz="2700" spc="-250" dirty="0">
                <a:latin typeface="Verdana"/>
                <a:cs typeface="Verdana"/>
              </a:rPr>
              <a:t> </a:t>
            </a:r>
            <a:r>
              <a:rPr sz="2700" spc="-80" dirty="0">
                <a:latin typeface="Verdana"/>
                <a:cs typeface="Verdana"/>
              </a:rPr>
              <a:t>move</a:t>
            </a:r>
            <a:r>
              <a:rPr sz="2700" spc="-250" dirty="0">
                <a:latin typeface="Verdana"/>
                <a:cs typeface="Verdana"/>
              </a:rPr>
              <a:t> </a:t>
            </a:r>
            <a:r>
              <a:rPr sz="2700" spc="-30" dirty="0">
                <a:latin typeface="Verdana"/>
                <a:cs typeface="Verdana"/>
              </a:rPr>
              <a:t>beyond</a:t>
            </a:r>
            <a:r>
              <a:rPr sz="2700" spc="-250" dirty="0">
                <a:latin typeface="Verdana"/>
                <a:cs typeface="Verdana"/>
              </a:rPr>
              <a:t> </a:t>
            </a:r>
            <a:r>
              <a:rPr sz="2700" spc="-30" dirty="0">
                <a:latin typeface="Verdana"/>
                <a:cs typeface="Verdana"/>
              </a:rPr>
              <a:t>basic</a:t>
            </a:r>
            <a:r>
              <a:rPr sz="2700" spc="-245" dirty="0">
                <a:latin typeface="Verdana"/>
                <a:cs typeface="Verdana"/>
              </a:rPr>
              <a:t> </a:t>
            </a:r>
            <a:r>
              <a:rPr sz="2700" spc="-70" dirty="0">
                <a:latin typeface="Verdana"/>
                <a:cs typeface="Verdana"/>
              </a:rPr>
              <a:t>geographic</a:t>
            </a:r>
            <a:r>
              <a:rPr sz="2700" spc="-250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or</a:t>
            </a:r>
            <a:r>
              <a:rPr sz="2700" spc="-250" dirty="0">
                <a:latin typeface="Verdana"/>
                <a:cs typeface="Verdana"/>
              </a:rPr>
              <a:t> </a:t>
            </a:r>
            <a:r>
              <a:rPr sz="2700" spc="-85" dirty="0">
                <a:latin typeface="Verdana"/>
                <a:cs typeface="Verdana"/>
              </a:rPr>
              <a:t>volume-</a:t>
            </a:r>
            <a:r>
              <a:rPr sz="2700" spc="-50" dirty="0">
                <a:latin typeface="Verdana"/>
                <a:cs typeface="Verdana"/>
              </a:rPr>
              <a:t>based</a:t>
            </a:r>
            <a:r>
              <a:rPr sz="2700" spc="-250" dirty="0">
                <a:latin typeface="Verdana"/>
                <a:cs typeface="Verdana"/>
              </a:rPr>
              <a:t> </a:t>
            </a:r>
            <a:r>
              <a:rPr sz="2700" spc="-40" dirty="0">
                <a:latin typeface="Verdana"/>
                <a:cs typeface="Verdana"/>
              </a:rPr>
              <a:t>tiers</a:t>
            </a:r>
            <a:r>
              <a:rPr sz="2700" spc="-250" dirty="0">
                <a:latin typeface="Verdana"/>
                <a:cs typeface="Verdana"/>
              </a:rPr>
              <a:t> </a:t>
            </a:r>
            <a:r>
              <a:rPr sz="2700" spc="-60" dirty="0">
                <a:latin typeface="Verdana"/>
                <a:cs typeface="Verdana"/>
              </a:rPr>
              <a:t>and</a:t>
            </a:r>
            <a:r>
              <a:rPr sz="2700" spc="-245" dirty="0">
                <a:latin typeface="Verdana"/>
                <a:cs typeface="Verdana"/>
              </a:rPr>
              <a:t> </a:t>
            </a:r>
            <a:r>
              <a:rPr sz="2700" spc="-95" dirty="0">
                <a:latin typeface="Verdana"/>
                <a:cs typeface="Verdana"/>
              </a:rPr>
              <a:t>segment</a:t>
            </a:r>
            <a:r>
              <a:rPr sz="2700" spc="-25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partners </a:t>
            </a:r>
            <a:r>
              <a:rPr sz="2700" spc="-50" dirty="0">
                <a:latin typeface="Verdana"/>
                <a:cs typeface="Verdana"/>
              </a:rPr>
              <a:t>based</a:t>
            </a:r>
            <a:r>
              <a:rPr sz="2700" spc="-245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on</a:t>
            </a:r>
            <a:r>
              <a:rPr sz="2700" spc="-245" dirty="0">
                <a:latin typeface="Verdana"/>
                <a:cs typeface="Verdana"/>
              </a:rPr>
              <a:t> </a:t>
            </a:r>
            <a:r>
              <a:rPr sz="2700" spc="-35" dirty="0">
                <a:latin typeface="Verdana"/>
                <a:cs typeface="Verdana"/>
              </a:rPr>
              <a:t>true</a:t>
            </a:r>
            <a:r>
              <a:rPr sz="2700" spc="-240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behavioral</a:t>
            </a:r>
            <a:r>
              <a:rPr sz="2700" spc="-245" dirty="0">
                <a:latin typeface="Verdana"/>
                <a:cs typeface="Verdana"/>
              </a:rPr>
              <a:t> </a:t>
            </a:r>
            <a:r>
              <a:rPr sz="2700" spc="-75" dirty="0">
                <a:latin typeface="Verdana"/>
                <a:cs typeface="Verdana"/>
              </a:rPr>
              <a:t>similarities,</a:t>
            </a:r>
            <a:r>
              <a:rPr sz="2700" spc="-240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purchase</a:t>
            </a:r>
            <a:r>
              <a:rPr sz="2700" spc="-245" dirty="0">
                <a:latin typeface="Verdana"/>
                <a:cs typeface="Verdana"/>
              </a:rPr>
              <a:t> </a:t>
            </a:r>
            <a:r>
              <a:rPr sz="2700" spc="-45" dirty="0">
                <a:latin typeface="Verdana"/>
                <a:cs typeface="Verdana"/>
              </a:rPr>
              <a:t>velocity,</a:t>
            </a:r>
            <a:r>
              <a:rPr sz="2700" spc="-240" dirty="0">
                <a:latin typeface="Verdana"/>
                <a:cs typeface="Verdana"/>
              </a:rPr>
              <a:t> </a:t>
            </a:r>
            <a:r>
              <a:rPr sz="2700" spc="-60" dirty="0">
                <a:latin typeface="Verdana"/>
                <a:cs typeface="Verdana"/>
              </a:rPr>
              <a:t>and</a:t>
            </a:r>
            <a:r>
              <a:rPr sz="2700" spc="-24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product</a:t>
            </a:r>
            <a:r>
              <a:rPr sz="2700" spc="-240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mix.</a:t>
            </a:r>
            <a:endParaRPr sz="2700">
              <a:latin typeface="Verdana"/>
              <a:cs typeface="Verdana"/>
            </a:endParaRPr>
          </a:p>
          <a:p>
            <a:pPr marL="12700" marR="36195">
              <a:lnSpc>
                <a:spcPct val="115700"/>
              </a:lnSpc>
            </a:pPr>
            <a:r>
              <a:rPr sz="2700" spc="-250" dirty="0">
                <a:latin typeface="Arial Black"/>
                <a:cs typeface="Arial Black"/>
              </a:rPr>
              <a:t>The</a:t>
            </a:r>
            <a:r>
              <a:rPr sz="2700" spc="-200" dirty="0">
                <a:latin typeface="Arial Black"/>
                <a:cs typeface="Arial Black"/>
              </a:rPr>
              <a:t> </a:t>
            </a:r>
            <a:r>
              <a:rPr sz="2700" spc="-170" dirty="0">
                <a:latin typeface="Arial Black"/>
                <a:cs typeface="Arial Black"/>
              </a:rPr>
              <a:t>Approach:</a:t>
            </a:r>
            <a:r>
              <a:rPr sz="2700" spc="-200" dirty="0">
                <a:latin typeface="Arial Black"/>
                <a:cs typeface="Arial Black"/>
              </a:rPr>
              <a:t> </a:t>
            </a:r>
            <a:r>
              <a:rPr sz="2700" spc="-85" dirty="0">
                <a:latin typeface="Verdana"/>
                <a:cs typeface="Verdana"/>
              </a:rPr>
              <a:t>The</a:t>
            </a:r>
            <a:r>
              <a:rPr sz="2700" spc="-225" dirty="0">
                <a:latin typeface="Verdana"/>
                <a:cs typeface="Verdana"/>
              </a:rPr>
              <a:t> </a:t>
            </a:r>
            <a:r>
              <a:rPr sz="2700" spc="-55" dirty="0">
                <a:latin typeface="Verdana"/>
                <a:cs typeface="Verdana"/>
              </a:rPr>
              <a:t>ClusteringMixin</a:t>
            </a:r>
            <a:r>
              <a:rPr sz="2700" spc="-220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employs</a:t>
            </a:r>
            <a:r>
              <a:rPr sz="2700" spc="-220" dirty="0">
                <a:latin typeface="Verdana"/>
                <a:cs typeface="Verdana"/>
              </a:rPr>
              <a:t> </a:t>
            </a:r>
            <a:r>
              <a:rPr sz="2700" spc="-100" dirty="0">
                <a:latin typeface="Verdana"/>
                <a:cs typeface="Verdana"/>
              </a:rPr>
              <a:t>an</a:t>
            </a:r>
            <a:r>
              <a:rPr sz="2700" spc="-220" dirty="0">
                <a:latin typeface="Verdana"/>
                <a:cs typeface="Verdana"/>
              </a:rPr>
              <a:t> </a:t>
            </a:r>
            <a:r>
              <a:rPr sz="2700" spc="-60" dirty="0">
                <a:latin typeface="Verdana"/>
                <a:cs typeface="Verdana"/>
              </a:rPr>
              <a:t>ensemble</a:t>
            </a:r>
            <a:r>
              <a:rPr sz="2700" spc="-22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of</a:t>
            </a:r>
            <a:r>
              <a:rPr sz="2700" spc="-220" dirty="0">
                <a:latin typeface="Verdana"/>
                <a:cs typeface="Verdana"/>
              </a:rPr>
              <a:t> </a:t>
            </a:r>
            <a:r>
              <a:rPr sz="2700" spc="-70" dirty="0">
                <a:latin typeface="Verdana"/>
                <a:cs typeface="Verdana"/>
              </a:rPr>
              <a:t>algorithms</a:t>
            </a:r>
            <a:r>
              <a:rPr sz="2700" spc="-220" dirty="0">
                <a:latin typeface="Verdana"/>
                <a:cs typeface="Verdana"/>
              </a:rPr>
              <a:t> </a:t>
            </a:r>
            <a:r>
              <a:rPr sz="2700" spc="-40" dirty="0">
                <a:latin typeface="Verdana"/>
                <a:cs typeface="Verdana"/>
              </a:rPr>
              <a:t>including</a:t>
            </a:r>
            <a:r>
              <a:rPr sz="2700" spc="-22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HDBSCAN </a:t>
            </a:r>
            <a:r>
              <a:rPr sz="2700" spc="-85" dirty="0">
                <a:latin typeface="Verdana"/>
                <a:cs typeface="Verdana"/>
              </a:rPr>
              <a:t>(for</a:t>
            </a:r>
            <a:r>
              <a:rPr sz="2700" spc="-240" dirty="0">
                <a:latin typeface="Verdana"/>
                <a:cs typeface="Verdana"/>
              </a:rPr>
              <a:t> </a:t>
            </a:r>
            <a:r>
              <a:rPr sz="2700" spc="-65" dirty="0">
                <a:latin typeface="Verdana"/>
                <a:cs typeface="Verdana"/>
              </a:rPr>
              <a:t>density-</a:t>
            </a:r>
            <a:r>
              <a:rPr sz="2700" spc="-50" dirty="0">
                <a:latin typeface="Verdana"/>
                <a:cs typeface="Verdana"/>
              </a:rPr>
              <a:t>based</a:t>
            </a:r>
            <a:r>
              <a:rPr sz="2700" spc="-229" dirty="0">
                <a:latin typeface="Verdana"/>
                <a:cs typeface="Verdana"/>
              </a:rPr>
              <a:t> </a:t>
            </a:r>
            <a:r>
              <a:rPr sz="2700" spc="-35" dirty="0">
                <a:latin typeface="Verdana"/>
                <a:cs typeface="Verdana"/>
              </a:rPr>
              <a:t>discovery</a:t>
            </a:r>
            <a:r>
              <a:rPr sz="2700" spc="-229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of</a:t>
            </a:r>
            <a:r>
              <a:rPr sz="2700" spc="-229" dirty="0">
                <a:latin typeface="Verdana"/>
                <a:cs typeface="Verdana"/>
              </a:rPr>
              <a:t> </a:t>
            </a:r>
            <a:r>
              <a:rPr sz="2700" spc="-30" dirty="0">
                <a:latin typeface="Verdana"/>
                <a:cs typeface="Verdana"/>
              </a:rPr>
              <a:t>niche</a:t>
            </a:r>
            <a:r>
              <a:rPr sz="2700" spc="-229" dirty="0">
                <a:latin typeface="Verdana"/>
                <a:cs typeface="Verdana"/>
              </a:rPr>
              <a:t> </a:t>
            </a:r>
            <a:r>
              <a:rPr sz="2700" spc="-120" dirty="0">
                <a:latin typeface="Verdana"/>
                <a:cs typeface="Verdana"/>
              </a:rPr>
              <a:t>segments)</a:t>
            </a:r>
            <a:r>
              <a:rPr sz="2700" spc="-225" dirty="0">
                <a:latin typeface="Verdana"/>
                <a:cs typeface="Verdana"/>
              </a:rPr>
              <a:t> </a:t>
            </a:r>
            <a:r>
              <a:rPr sz="2700" spc="-60" dirty="0">
                <a:latin typeface="Verdana"/>
                <a:cs typeface="Verdana"/>
              </a:rPr>
              <a:t>and</a:t>
            </a:r>
            <a:r>
              <a:rPr sz="2700" spc="-229" dirty="0">
                <a:latin typeface="Verdana"/>
                <a:cs typeface="Verdana"/>
              </a:rPr>
              <a:t> </a:t>
            </a:r>
            <a:r>
              <a:rPr sz="2700" spc="-95" dirty="0">
                <a:latin typeface="Verdana"/>
                <a:cs typeface="Verdana"/>
              </a:rPr>
              <a:t>Gaussian</a:t>
            </a:r>
            <a:r>
              <a:rPr sz="2700" spc="-229" dirty="0">
                <a:latin typeface="Verdana"/>
                <a:cs typeface="Verdana"/>
              </a:rPr>
              <a:t> </a:t>
            </a:r>
            <a:r>
              <a:rPr sz="2700" spc="-45" dirty="0">
                <a:latin typeface="Verdana"/>
                <a:cs typeface="Verdana"/>
              </a:rPr>
              <a:t>Mixture</a:t>
            </a:r>
            <a:r>
              <a:rPr sz="2700" spc="-229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Models</a:t>
            </a:r>
            <a:r>
              <a:rPr sz="2700" spc="-229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for</a:t>
            </a:r>
            <a:r>
              <a:rPr sz="2700" spc="-225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broad </a:t>
            </a:r>
            <a:r>
              <a:rPr sz="2700" spc="-110" dirty="0">
                <a:latin typeface="Verdana"/>
                <a:cs typeface="Verdana"/>
              </a:rPr>
              <a:t>market</a:t>
            </a:r>
            <a:r>
              <a:rPr sz="2700" spc="-254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partitioning.</a:t>
            </a:r>
            <a:endParaRPr sz="2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700" spc="-275" dirty="0">
                <a:latin typeface="Arial Black"/>
                <a:cs typeface="Arial Black"/>
              </a:rPr>
              <a:t>Key</a:t>
            </a:r>
            <a:r>
              <a:rPr sz="2700" spc="-240" dirty="0">
                <a:latin typeface="Arial Black"/>
                <a:cs typeface="Arial Black"/>
              </a:rPr>
              <a:t> </a:t>
            </a:r>
            <a:r>
              <a:rPr sz="2700" spc="-204" dirty="0">
                <a:latin typeface="Arial Black"/>
                <a:cs typeface="Arial Black"/>
              </a:rPr>
              <a:t>Features</a:t>
            </a:r>
            <a:r>
              <a:rPr sz="2700" spc="-240" dirty="0">
                <a:latin typeface="Arial Black"/>
                <a:cs typeface="Arial Black"/>
              </a:rPr>
              <a:t> </a:t>
            </a:r>
            <a:r>
              <a:rPr sz="2700" spc="-100" dirty="0">
                <a:latin typeface="Arial Black"/>
                <a:cs typeface="Arial Black"/>
              </a:rPr>
              <a:t>Extracted:</a:t>
            </a:r>
            <a:endParaRPr sz="2700">
              <a:latin typeface="Arial Black"/>
              <a:cs typeface="Arial Black"/>
            </a:endParaRPr>
          </a:p>
          <a:p>
            <a:pPr marL="594995">
              <a:lnSpc>
                <a:spcPct val="100000"/>
              </a:lnSpc>
              <a:spcBef>
                <a:spcPts val="509"/>
              </a:spcBef>
            </a:pPr>
            <a:r>
              <a:rPr sz="2700" dirty="0">
                <a:latin typeface="Verdana"/>
                <a:cs typeface="Verdana"/>
              </a:rPr>
              <a:t>RFM</a:t>
            </a:r>
            <a:r>
              <a:rPr sz="2700" spc="-229" dirty="0">
                <a:latin typeface="Verdana"/>
                <a:cs typeface="Verdana"/>
              </a:rPr>
              <a:t> </a:t>
            </a:r>
            <a:r>
              <a:rPr sz="2700" spc="-105" dirty="0">
                <a:latin typeface="Verdana"/>
                <a:cs typeface="Verdana"/>
              </a:rPr>
              <a:t>(Recency,</a:t>
            </a:r>
            <a:r>
              <a:rPr sz="2700" spc="-229" dirty="0">
                <a:latin typeface="Verdana"/>
                <a:cs typeface="Verdana"/>
              </a:rPr>
              <a:t> </a:t>
            </a:r>
            <a:r>
              <a:rPr sz="2700" spc="-65" dirty="0">
                <a:latin typeface="Verdana"/>
                <a:cs typeface="Verdana"/>
              </a:rPr>
              <a:t>Frequency,</a:t>
            </a:r>
            <a:r>
              <a:rPr sz="2700" spc="-225" dirty="0">
                <a:latin typeface="Verdana"/>
                <a:cs typeface="Verdana"/>
              </a:rPr>
              <a:t> </a:t>
            </a:r>
            <a:r>
              <a:rPr sz="2700" spc="-114" dirty="0">
                <a:latin typeface="Verdana"/>
                <a:cs typeface="Verdana"/>
              </a:rPr>
              <a:t>Monetary):</a:t>
            </a:r>
            <a:r>
              <a:rPr sz="2700" spc="-229" dirty="0">
                <a:latin typeface="Verdana"/>
                <a:cs typeface="Verdana"/>
              </a:rPr>
              <a:t> </a:t>
            </a:r>
            <a:r>
              <a:rPr sz="2700" spc="-55" dirty="0">
                <a:latin typeface="Verdana"/>
                <a:cs typeface="Verdana"/>
              </a:rPr>
              <a:t>Baseline</a:t>
            </a:r>
            <a:r>
              <a:rPr sz="2700" spc="-229" dirty="0">
                <a:latin typeface="Verdana"/>
                <a:cs typeface="Verdana"/>
              </a:rPr>
              <a:t> </a:t>
            </a:r>
            <a:r>
              <a:rPr sz="2700" spc="-105" dirty="0">
                <a:latin typeface="Verdana"/>
                <a:cs typeface="Verdana"/>
              </a:rPr>
              <a:t>engagement</a:t>
            </a:r>
            <a:r>
              <a:rPr sz="2700" spc="-22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metrics.</a:t>
            </a:r>
            <a:endParaRPr sz="2700">
              <a:latin typeface="Verdana"/>
              <a:cs typeface="Verdana"/>
            </a:endParaRPr>
          </a:p>
          <a:p>
            <a:pPr marL="594995" marR="358775">
              <a:lnSpc>
                <a:spcPct val="115700"/>
              </a:lnSpc>
              <a:spcBef>
                <a:spcPts val="5"/>
              </a:spcBef>
            </a:pPr>
            <a:r>
              <a:rPr sz="2700" spc="-30" dirty="0">
                <a:latin typeface="Verdana"/>
                <a:cs typeface="Verdana"/>
              </a:rPr>
              <a:t>Purchase</a:t>
            </a:r>
            <a:r>
              <a:rPr sz="2700" spc="-229" dirty="0">
                <a:latin typeface="Verdana"/>
                <a:cs typeface="Verdana"/>
              </a:rPr>
              <a:t> </a:t>
            </a:r>
            <a:r>
              <a:rPr sz="2700" spc="-70" dirty="0">
                <a:latin typeface="Verdana"/>
                <a:cs typeface="Verdana"/>
              </a:rPr>
              <a:t>Velocity:</a:t>
            </a:r>
            <a:r>
              <a:rPr sz="2700" spc="-229" dirty="0">
                <a:latin typeface="Verdana"/>
                <a:cs typeface="Verdana"/>
              </a:rPr>
              <a:t> </a:t>
            </a:r>
            <a:r>
              <a:rPr sz="2700" spc="-100" dirty="0">
                <a:latin typeface="Verdana"/>
                <a:cs typeface="Verdana"/>
              </a:rPr>
              <a:t>Average</a:t>
            </a:r>
            <a:r>
              <a:rPr sz="2700" spc="-229" dirty="0">
                <a:latin typeface="Verdana"/>
                <a:cs typeface="Verdana"/>
              </a:rPr>
              <a:t> </a:t>
            </a:r>
            <a:r>
              <a:rPr sz="2700" spc="-70" dirty="0">
                <a:latin typeface="Verdana"/>
                <a:cs typeface="Verdana"/>
              </a:rPr>
              <a:t>inter-</a:t>
            </a:r>
            <a:r>
              <a:rPr sz="2700" spc="-50" dirty="0">
                <a:latin typeface="Verdana"/>
                <a:cs typeface="Verdana"/>
              </a:rPr>
              <a:t>purchase</a:t>
            </a:r>
            <a:r>
              <a:rPr sz="2700" spc="-225" dirty="0">
                <a:latin typeface="Verdana"/>
                <a:cs typeface="Verdana"/>
              </a:rPr>
              <a:t> </a:t>
            </a:r>
            <a:r>
              <a:rPr sz="2700" spc="-105" dirty="0">
                <a:latin typeface="Verdana"/>
                <a:cs typeface="Verdana"/>
              </a:rPr>
              <a:t>gaps</a:t>
            </a:r>
            <a:r>
              <a:rPr sz="2700" spc="-229" dirty="0">
                <a:latin typeface="Verdana"/>
                <a:cs typeface="Verdana"/>
              </a:rPr>
              <a:t> </a:t>
            </a:r>
            <a:r>
              <a:rPr sz="2700" spc="-60" dirty="0">
                <a:latin typeface="Verdana"/>
                <a:cs typeface="Verdana"/>
              </a:rPr>
              <a:t>and</a:t>
            </a:r>
            <a:r>
              <a:rPr sz="2700" spc="-229" dirty="0">
                <a:latin typeface="Verdana"/>
                <a:cs typeface="Verdana"/>
              </a:rPr>
              <a:t> </a:t>
            </a:r>
            <a:r>
              <a:rPr sz="2700" spc="-35" dirty="0">
                <a:latin typeface="Verdana"/>
                <a:cs typeface="Verdana"/>
              </a:rPr>
              <a:t>acceleration/deceleration</a:t>
            </a:r>
            <a:r>
              <a:rPr sz="2700" spc="-229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trends. </a:t>
            </a:r>
            <a:r>
              <a:rPr sz="2700" spc="-70" dirty="0">
                <a:latin typeface="Verdana"/>
                <a:cs typeface="Verdana"/>
              </a:rPr>
              <a:t>Seasonality</a:t>
            </a:r>
            <a:r>
              <a:rPr sz="2700" spc="-240" dirty="0">
                <a:latin typeface="Verdana"/>
                <a:cs typeface="Verdana"/>
              </a:rPr>
              <a:t> </a:t>
            </a:r>
            <a:r>
              <a:rPr sz="2700" spc="-185" dirty="0">
                <a:latin typeface="Verdana"/>
                <a:cs typeface="Verdana"/>
              </a:rPr>
              <a:t>&amp;</a:t>
            </a:r>
            <a:r>
              <a:rPr sz="2700" spc="-235" dirty="0">
                <a:latin typeface="Verdana"/>
                <a:cs typeface="Verdana"/>
              </a:rPr>
              <a:t> </a:t>
            </a:r>
            <a:r>
              <a:rPr sz="2700" spc="-95" dirty="0">
                <a:latin typeface="Verdana"/>
                <a:cs typeface="Verdana"/>
              </a:rPr>
              <a:t>Entropy:</a:t>
            </a:r>
            <a:r>
              <a:rPr sz="2700" spc="-235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Detects</a:t>
            </a:r>
            <a:r>
              <a:rPr sz="2700" spc="-240" dirty="0">
                <a:latin typeface="Verdana"/>
                <a:cs typeface="Verdana"/>
              </a:rPr>
              <a:t> </a:t>
            </a:r>
            <a:r>
              <a:rPr sz="2700" spc="-70" dirty="0">
                <a:latin typeface="Verdana"/>
                <a:cs typeface="Verdana"/>
              </a:rPr>
              <a:t>highly</a:t>
            </a:r>
            <a:r>
              <a:rPr sz="2700" spc="-235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concentrated</a:t>
            </a:r>
            <a:r>
              <a:rPr sz="2700" spc="-235" dirty="0">
                <a:latin typeface="Verdana"/>
                <a:cs typeface="Verdana"/>
              </a:rPr>
              <a:t> </a:t>
            </a:r>
            <a:r>
              <a:rPr sz="2700" spc="-60" dirty="0">
                <a:latin typeface="Verdana"/>
                <a:cs typeface="Verdana"/>
              </a:rPr>
              <a:t>buyers</a:t>
            </a:r>
            <a:r>
              <a:rPr sz="2700" spc="-240" dirty="0">
                <a:latin typeface="Verdana"/>
                <a:cs typeface="Verdana"/>
              </a:rPr>
              <a:t> </a:t>
            </a:r>
            <a:r>
              <a:rPr sz="2700" spc="-75" dirty="0">
                <a:latin typeface="Verdana"/>
                <a:cs typeface="Verdana"/>
              </a:rPr>
              <a:t>versus</a:t>
            </a:r>
            <a:r>
              <a:rPr sz="2700" spc="-235" dirty="0">
                <a:latin typeface="Verdana"/>
                <a:cs typeface="Verdana"/>
              </a:rPr>
              <a:t> </a:t>
            </a:r>
            <a:r>
              <a:rPr sz="2700" spc="-55" dirty="0">
                <a:latin typeface="Verdana"/>
                <a:cs typeface="Verdana"/>
              </a:rPr>
              <a:t>diverse</a:t>
            </a:r>
            <a:r>
              <a:rPr sz="2700" spc="-23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portfolio buyers.</a:t>
            </a:r>
            <a:endParaRPr sz="2700">
              <a:latin typeface="Verdana"/>
              <a:cs typeface="Verdana"/>
            </a:endParaRPr>
          </a:p>
          <a:p>
            <a:pPr marL="594995" marR="750570">
              <a:lnSpc>
                <a:spcPct val="115700"/>
              </a:lnSpc>
            </a:pPr>
            <a:r>
              <a:rPr sz="2700" spc="-60" dirty="0">
                <a:latin typeface="Verdana"/>
                <a:cs typeface="Verdana"/>
              </a:rPr>
              <a:t>Network/Peer</a:t>
            </a:r>
            <a:r>
              <a:rPr sz="2700" spc="-250" dirty="0">
                <a:latin typeface="Verdana"/>
                <a:cs typeface="Verdana"/>
              </a:rPr>
              <a:t> </a:t>
            </a:r>
            <a:r>
              <a:rPr sz="2700" spc="-80" dirty="0">
                <a:latin typeface="Verdana"/>
                <a:cs typeface="Verdana"/>
              </a:rPr>
              <a:t>Centrality:</a:t>
            </a:r>
            <a:r>
              <a:rPr sz="2700" spc="-245" dirty="0">
                <a:latin typeface="Verdana"/>
                <a:cs typeface="Verdana"/>
              </a:rPr>
              <a:t> </a:t>
            </a:r>
            <a:r>
              <a:rPr sz="2700" spc="-70" dirty="0">
                <a:latin typeface="Verdana"/>
                <a:cs typeface="Verdana"/>
              </a:rPr>
              <a:t>Evaluates</a:t>
            </a:r>
            <a:r>
              <a:rPr sz="2700" spc="-245" dirty="0">
                <a:latin typeface="Verdana"/>
                <a:cs typeface="Verdana"/>
              </a:rPr>
              <a:t> </a:t>
            </a:r>
            <a:r>
              <a:rPr sz="2700" spc="-60" dirty="0">
                <a:latin typeface="Verdana"/>
                <a:cs typeface="Verdana"/>
              </a:rPr>
              <a:t>how</a:t>
            </a:r>
            <a:r>
              <a:rPr sz="2700" spc="-245" dirty="0">
                <a:latin typeface="Verdana"/>
                <a:cs typeface="Verdana"/>
              </a:rPr>
              <a:t> </a:t>
            </a:r>
            <a:r>
              <a:rPr sz="2700" spc="-65" dirty="0">
                <a:latin typeface="Verdana"/>
                <a:cs typeface="Verdana"/>
              </a:rPr>
              <a:t>similar</a:t>
            </a:r>
            <a:r>
              <a:rPr sz="2700" spc="-245" dirty="0">
                <a:latin typeface="Verdana"/>
                <a:cs typeface="Verdana"/>
              </a:rPr>
              <a:t> </a:t>
            </a:r>
            <a:r>
              <a:rPr sz="2700" spc="-130" dirty="0">
                <a:latin typeface="Verdana"/>
                <a:cs typeface="Verdana"/>
              </a:rPr>
              <a:t>a</a:t>
            </a:r>
            <a:r>
              <a:rPr sz="2700" spc="-250" dirty="0">
                <a:latin typeface="Verdana"/>
                <a:cs typeface="Verdana"/>
              </a:rPr>
              <a:t> </a:t>
            </a:r>
            <a:r>
              <a:rPr sz="2700" spc="-55" dirty="0">
                <a:latin typeface="Verdana"/>
                <a:cs typeface="Verdana"/>
              </a:rPr>
              <a:t>partner's</a:t>
            </a:r>
            <a:r>
              <a:rPr sz="2700" spc="-245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purchase</a:t>
            </a:r>
            <a:r>
              <a:rPr sz="2700" spc="-24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vector</a:t>
            </a:r>
            <a:r>
              <a:rPr sz="2700" spc="-245" dirty="0">
                <a:latin typeface="Verdana"/>
                <a:cs typeface="Verdana"/>
              </a:rPr>
              <a:t> </a:t>
            </a:r>
            <a:r>
              <a:rPr sz="2700" spc="-55" dirty="0">
                <a:latin typeface="Verdana"/>
                <a:cs typeface="Verdana"/>
              </a:rPr>
              <a:t>is</a:t>
            </a:r>
            <a:r>
              <a:rPr sz="2700" spc="-24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to</a:t>
            </a:r>
            <a:r>
              <a:rPr sz="2700" spc="-250" dirty="0">
                <a:latin typeface="Verdana"/>
                <a:cs typeface="Verdana"/>
              </a:rPr>
              <a:t> </a:t>
            </a:r>
            <a:r>
              <a:rPr sz="2700" spc="-25" dirty="0">
                <a:latin typeface="Verdana"/>
                <a:cs typeface="Verdana"/>
              </a:rPr>
              <a:t>the </a:t>
            </a:r>
            <a:r>
              <a:rPr sz="2700" spc="-35" dirty="0">
                <a:latin typeface="Verdana"/>
                <a:cs typeface="Verdana"/>
              </a:rPr>
              <a:t>broader</a:t>
            </a:r>
            <a:r>
              <a:rPr sz="2700" spc="-254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network.</a:t>
            </a:r>
            <a:endParaRPr sz="2700">
              <a:latin typeface="Verdana"/>
              <a:cs typeface="Verdana"/>
            </a:endParaRPr>
          </a:p>
          <a:p>
            <a:pPr marL="12700" marR="5080">
              <a:lnSpc>
                <a:spcPct val="115700"/>
              </a:lnSpc>
            </a:pPr>
            <a:r>
              <a:rPr sz="2700" spc="-229" dirty="0">
                <a:latin typeface="Arial Black"/>
                <a:cs typeface="Arial Black"/>
              </a:rPr>
              <a:t>Business</a:t>
            </a:r>
            <a:r>
              <a:rPr sz="2700" spc="-220" dirty="0">
                <a:latin typeface="Arial Black"/>
                <a:cs typeface="Arial Black"/>
              </a:rPr>
              <a:t> </a:t>
            </a:r>
            <a:r>
              <a:rPr sz="2700" spc="-190" dirty="0">
                <a:latin typeface="Arial Black"/>
                <a:cs typeface="Arial Black"/>
              </a:rPr>
              <a:t>Impact:</a:t>
            </a:r>
            <a:r>
              <a:rPr sz="2700" spc="-185" dirty="0">
                <a:latin typeface="Arial Black"/>
                <a:cs typeface="Arial Black"/>
              </a:rPr>
              <a:t> </a:t>
            </a:r>
            <a:r>
              <a:rPr sz="2700" spc="-50" dirty="0">
                <a:latin typeface="Verdana"/>
                <a:cs typeface="Verdana"/>
              </a:rPr>
              <a:t>By</a:t>
            </a:r>
            <a:r>
              <a:rPr sz="2700" spc="-240" dirty="0">
                <a:latin typeface="Verdana"/>
                <a:cs typeface="Verdana"/>
              </a:rPr>
              <a:t> </a:t>
            </a:r>
            <a:r>
              <a:rPr sz="2700" spc="-80" dirty="0">
                <a:latin typeface="Verdana"/>
                <a:cs typeface="Verdana"/>
              </a:rPr>
              <a:t>grouping</a:t>
            </a:r>
            <a:r>
              <a:rPr sz="2700" spc="-240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partners</a:t>
            </a:r>
            <a:r>
              <a:rPr sz="2700" spc="-235" dirty="0">
                <a:latin typeface="Verdana"/>
                <a:cs typeface="Verdana"/>
              </a:rPr>
              <a:t> </a:t>
            </a:r>
            <a:r>
              <a:rPr sz="2700" spc="-45" dirty="0">
                <a:latin typeface="Verdana"/>
                <a:cs typeface="Verdana"/>
              </a:rPr>
              <a:t>with</a:t>
            </a:r>
            <a:r>
              <a:rPr sz="2700" spc="-240" dirty="0">
                <a:latin typeface="Verdana"/>
                <a:cs typeface="Verdana"/>
              </a:rPr>
              <a:t> </a:t>
            </a:r>
            <a:r>
              <a:rPr sz="2700" spc="-65" dirty="0">
                <a:latin typeface="Verdana"/>
                <a:cs typeface="Verdana"/>
              </a:rPr>
              <a:t>similar</a:t>
            </a:r>
            <a:r>
              <a:rPr sz="2700" spc="-240" dirty="0">
                <a:latin typeface="Verdana"/>
                <a:cs typeface="Verdana"/>
              </a:rPr>
              <a:t> </a:t>
            </a:r>
            <a:r>
              <a:rPr sz="2700" spc="-75" dirty="0">
                <a:latin typeface="Verdana"/>
                <a:cs typeface="Verdana"/>
              </a:rPr>
              <a:t>buying</a:t>
            </a:r>
            <a:r>
              <a:rPr sz="2700" spc="-235" dirty="0">
                <a:latin typeface="Verdana"/>
                <a:cs typeface="Verdana"/>
              </a:rPr>
              <a:t> </a:t>
            </a:r>
            <a:r>
              <a:rPr sz="2700" spc="-40" dirty="0">
                <a:latin typeface="Verdana"/>
                <a:cs typeface="Verdana"/>
              </a:rPr>
              <a:t>patterns</a:t>
            </a:r>
            <a:r>
              <a:rPr sz="2700" spc="-240" dirty="0">
                <a:latin typeface="Verdana"/>
                <a:cs typeface="Verdana"/>
              </a:rPr>
              <a:t> </a:t>
            </a:r>
            <a:r>
              <a:rPr sz="2700" spc="-65" dirty="0">
                <a:latin typeface="Verdana"/>
                <a:cs typeface="Verdana"/>
              </a:rPr>
              <a:t>asynchronously,</a:t>
            </a:r>
            <a:r>
              <a:rPr sz="2700" spc="-240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sales </a:t>
            </a:r>
            <a:r>
              <a:rPr sz="2700" spc="-45" dirty="0">
                <a:latin typeface="Verdana"/>
                <a:cs typeface="Verdana"/>
              </a:rPr>
              <a:t>reps</a:t>
            </a:r>
            <a:r>
              <a:rPr sz="2700" spc="-225" dirty="0">
                <a:latin typeface="Verdana"/>
                <a:cs typeface="Verdana"/>
              </a:rPr>
              <a:t> </a:t>
            </a:r>
            <a:r>
              <a:rPr sz="2700" spc="-45" dirty="0">
                <a:latin typeface="Verdana"/>
                <a:cs typeface="Verdana"/>
              </a:rPr>
              <a:t>receive</a:t>
            </a:r>
            <a:r>
              <a:rPr sz="2700" spc="-225" dirty="0">
                <a:latin typeface="Verdana"/>
                <a:cs typeface="Verdana"/>
              </a:rPr>
              <a:t> </a:t>
            </a:r>
            <a:r>
              <a:rPr sz="2700" spc="-60" dirty="0">
                <a:latin typeface="Verdana"/>
                <a:cs typeface="Verdana"/>
              </a:rPr>
              <a:t>targeted</a:t>
            </a:r>
            <a:r>
              <a:rPr sz="2700" spc="-225" dirty="0">
                <a:latin typeface="Verdana"/>
                <a:cs typeface="Verdana"/>
              </a:rPr>
              <a:t> </a:t>
            </a:r>
            <a:r>
              <a:rPr sz="2700" spc="-70" dirty="0">
                <a:latin typeface="Verdana"/>
                <a:cs typeface="Verdana"/>
              </a:rPr>
              <a:t>strategies</a:t>
            </a:r>
            <a:r>
              <a:rPr sz="2700" spc="-22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for</a:t>
            </a:r>
            <a:r>
              <a:rPr sz="2700" spc="-22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specific</a:t>
            </a:r>
            <a:r>
              <a:rPr sz="2700" spc="-225" dirty="0">
                <a:latin typeface="Verdana"/>
                <a:cs typeface="Verdana"/>
              </a:rPr>
              <a:t> </a:t>
            </a:r>
            <a:r>
              <a:rPr sz="2700" spc="-90" dirty="0">
                <a:latin typeface="Verdana"/>
                <a:cs typeface="Verdana"/>
              </a:rPr>
              <a:t>clusters—</a:t>
            </a:r>
            <a:r>
              <a:rPr sz="2700" dirty="0">
                <a:latin typeface="Verdana"/>
                <a:cs typeface="Verdana"/>
              </a:rPr>
              <a:t>for</a:t>
            </a:r>
            <a:r>
              <a:rPr sz="2700" spc="-225" dirty="0">
                <a:latin typeface="Verdana"/>
                <a:cs typeface="Verdana"/>
              </a:rPr>
              <a:t> </a:t>
            </a:r>
            <a:r>
              <a:rPr sz="2700" spc="-120" dirty="0">
                <a:latin typeface="Verdana"/>
                <a:cs typeface="Verdana"/>
              </a:rPr>
              <a:t>example,</a:t>
            </a:r>
            <a:r>
              <a:rPr sz="2700" spc="-225" dirty="0">
                <a:latin typeface="Verdana"/>
                <a:cs typeface="Verdana"/>
              </a:rPr>
              <a:t> </a:t>
            </a:r>
            <a:r>
              <a:rPr sz="2700" spc="-110" dirty="0">
                <a:latin typeface="Verdana"/>
                <a:cs typeface="Verdana"/>
              </a:rPr>
              <a:t>knowing</a:t>
            </a:r>
            <a:r>
              <a:rPr sz="2700" spc="-225" dirty="0">
                <a:latin typeface="Verdana"/>
                <a:cs typeface="Verdana"/>
              </a:rPr>
              <a:t> </a:t>
            </a:r>
            <a:r>
              <a:rPr sz="2700" spc="-60" dirty="0">
                <a:latin typeface="Verdana"/>
                <a:cs typeface="Verdana"/>
              </a:rPr>
              <a:t>exactly</a:t>
            </a:r>
            <a:r>
              <a:rPr sz="2700" spc="-225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which </a:t>
            </a:r>
            <a:r>
              <a:rPr sz="2700" spc="-60" dirty="0">
                <a:latin typeface="Verdana"/>
                <a:cs typeface="Verdana"/>
              </a:rPr>
              <a:t>"Growth</a:t>
            </a:r>
            <a:r>
              <a:rPr sz="2700" spc="-240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Sector"</a:t>
            </a:r>
            <a:r>
              <a:rPr sz="2700" spc="-235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partners</a:t>
            </a:r>
            <a:r>
              <a:rPr sz="2700" spc="-235" dirty="0">
                <a:latin typeface="Verdana"/>
                <a:cs typeface="Verdana"/>
              </a:rPr>
              <a:t> </a:t>
            </a:r>
            <a:r>
              <a:rPr sz="2700" spc="-55" dirty="0">
                <a:latin typeface="Verdana"/>
                <a:cs typeface="Verdana"/>
              </a:rPr>
              <a:t>look</a:t>
            </a:r>
            <a:r>
              <a:rPr sz="2700" spc="-235" dirty="0">
                <a:latin typeface="Verdana"/>
                <a:cs typeface="Verdana"/>
              </a:rPr>
              <a:t> </a:t>
            </a:r>
            <a:r>
              <a:rPr sz="2700" spc="-30" dirty="0">
                <a:latin typeface="Verdana"/>
                <a:cs typeface="Verdana"/>
              </a:rPr>
              <a:t>structurally</a:t>
            </a:r>
            <a:r>
              <a:rPr sz="2700" spc="-235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identical</a:t>
            </a:r>
            <a:r>
              <a:rPr sz="2700" spc="-23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to</a:t>
            </a:r>
            <a:r>
              <a:rPr sz="2700" spc="-235" dirty="0">
                <a:latin typeface="Verdana"/>
                <a:cs typeface="Verdana"/>
              </a:rPr>
              <a:t> </a:t>
            </a:r>
            <a:r>
              <a:rPr sz="2700" spc="-70" dirty="0">
                <a:latin typeface="Verdana"/>
                <a:cs typeface="Verdana"/>
              </a:rPr>
              <a:t>"Premium</a:t>
            </a:r>
            <a:r>
              <a:rPr sz="2700" spc="-235" dirty="0">
                <a:latin typeface="Verdana"/>
                <a:cs typeface="Verdana"/>
              </a:rPr>
              <a:t> </a:t>
            </a:r>
            <a:r>
              <a:rPr sz="2700" spc="-75" dirty="0">
                <a:latin typeface="Verdana"/>
                <a:cs typeface="Verdana"/>
              </a:rPr>
              <a:t>Tier"</a:t>
            </a:r>
            <a:r>
              <a:rPr sz="2700" spc="-240" dirty="0">
                <a:latin typeface="Verdana"/>
                <a:cs typeface="Verdana"/>
              </a:rPr>
              <a:t> </a:t>
            </a:r>
            <a:r>
              <a:rPr sz="2700" spc="-75" dirty="0">
                <a:latin typeface="Verdana"/>
                <a:cs typeface="Verdana"/>
              </a:rPr>
              <a:t>partners,</a:t>
            </a:r>
            <a:r>
              <a:rPr sz="2700" spc="-23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highlighting </a:t>
            </a:r>
            <a:r>
              <a:rPr sz="2700" spc="-70" dirty="0">
                <a:latin typeface="Verdana"/>
                <a:cs typeface="Verdana"/>
              </a:rPr>
              <a:t>immediate</a:t>
            </a:r>
            <a:r>
              <a:rPr sz="2700" spc="-240" dirty="0">
                <a:latin typeface="Verdana"/>
                <a:cs typeface="Verdana"/>
              </a:rPr>
              <a:t> </a:t>
            </a:r>
            <a:r>
              <a:rPr sz="2700" spc="-25" dirty="0">
                <a:latin typeface="Verdana"/>
                <a:cs typeface="Verdana"/>
              </a:rPr>
              <a:t>upsell</a:t>
            </a:r>
            <a:r>
              <a:rPr sz="2700" spc="-23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opportunities.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659263" y="9627163"/>
            <a:ext cx="229235" cy="26797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400" spc="-110" dirty="0">
                <a:solidFill>
                  <a:srgbClr val="FFFFFF"/>
                </a:solidFill>
                <a:latin typeface="Arial Black"/>
                <a:cs typeface="Arial Black"/>
              </a:rPr>
              <a:t>05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881964" y="627296"/>
            <a:ext cx="1188275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254" dirty="0"/>
              <a:t>Partner</a:t>
            </a:r>
            <a:r>
              <a:rPr sz="4500" spc="-420" dirty="0"/>
              <a:t> </a:t>
            </a:r>
            <a:r>
              <a:rPr sz="4500" spc="-300" dirty="0"/>
              <a:t>Segmentation</a:t>
            </a:r>
            <a:r>
              <a:rPr sz="4500" spc="-415" dirty="0"/>
              <a:t> </a:t>
            </a:r>
            <a:r>
              <a:rPr sz="4500" spc="-1000" dirty="0"/>
              <a:t>&amp;</a:t>
            </a:r>
            <a:r>
              <a:rPr sz="4500" spc="-420" dirty="0"/>
              <a:t> </a:t>
            </a:r>
            <a:r>
              <a:rPr sz="4500" spc="-285" dirty="0"/>
              <a:t>Clustering</a:t>
            </a:r>
            <a:r>
              <a:rPr sz="4500" spc="-415" dirty="0"/>
              <a:t> </a:t>
            </a:r>
            <a:r>
              <a:rPr sz="4500" spc="-165" dirty="0"/>
              <a:t>Models</a:t>
            </a:r>
            <a:endParaRPr sz="4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9300" y="7527480"/>
            <a:ext cx="1028700" cy="27595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4800" y="1697162"/>
            <a:ext cx="13706474" cy="57245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31401" y="663575"/>
            <a:ext cx="425513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285" dirty="0"/>
              <a:t>Clustering</a:t>
            </a:r>
            <a:r>
              <a:rPr sz="4500" spc="-400" dirty="0"/>
              <a:t> </a:t>
            </a:r>
            <a:r>
              <a:rPr sz="4500" spc="-140" dirty="0"/>
              <a:t>Map</a:t>
            </a:r>
            <a:endParaRPr sz="4500"/>
          </a:p>
        </p:txBody>
      </p:sp>
      <p:sp>
        <p:nvSpPr>
          <p:cNvPr id="6" name="object 6"/>
          <p:cNvSpPr txBox="1"/>
          <p:nvPr/>
        </p:nvSpPr>
        <p:spPr>
          <a:xfrm>
            <a:off x="17659263" y="9627163"/>
            <a:ext cx="229235" cy="26797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400" spc="-110" dirty="0">
                <a:solidFill>
                  <a:srgbClr val="FFFFFF"/>
                </a:solidFill>
                <a:latin typeface="Arial Black"/>
                <a:cs typeface="Arial Black"/>
              </a:rPr>
              <a:t>06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31401" y="7645399"/>
            <a:ext cx="5020945" cy="1625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sz="3000" spc="-250" dirty="0">
                <a:latin typeface="Arial Black"/>
                <a:cs typeface="Arial Black"/>
              </a:rPr>
              <a:t>Total</a:t>
            </a:r>
            <a:r>
              <a:rPr sz="3000" spc="-245" dirty="0">
                <a:latin typeface="Arial Black"/>
                <a:cs typeface="Arial Black"/>
              </a:rPr>
              <a:t> </a:t>
            </a:r>
            <a:r>
              <a:rPr sz="3000" spc="-235" dirty="0">
                <a:latin typeface="Arial Black"/>
                <a:cs typeface="Arial Black"/>
              </a:rPr>
              <a:t>CLusters</a:t>
            </a:r>
            <a:r>
              <a:rPr sz="3000" spc="-245" dirty="0">
                <a:latin typeface="Arial Black"/>
                <a:cs typeface="Arial Black"/>
              </a:rPr>
              <a:t> </a:t>
            </a:r>
            <a:r>
              <a:rPr sz="3000" spc="-145" dirty="0">
                <a:latin typeface="Arial Black"/>
                <a:cs typeface="Arial Black"/>
              </a:rPr>
              <a:t>foormed:</a:t>
            </a:r>
            <a:r>
              <a:rPr sz="3000" spc="-240" dirty="0">
                <a:latin typeface="Arial Black"/>
                <a:cs typeface="Arial Black"/>
              </a:rPr>
              <a:t> </a:t>
            </a:r>
            <a:r>
              <a:rPr sz="3000" spc="-305" dirty="0">
                <a:latin typeface="Arial Black"/>
                <a:cs typeface="Arial Black"/>
              </a:rPr>
              <a:t>23 </a:t>
            </a:r>
            <a:r>
              <a:rPr sz="3000" spc="-200" dirty="0">
                <a:latin typeface="Arial Black"/>
                <a:cs typeface="Arial Black"/>
              </a:rPr>
              <a:t>Vip</a:t>
            </a:r>
            <a:r>
              <a:rPr sz="3000" spc="-254" dirty="0">
                <a:latin typeface="Arial Black"/>
                <a:cs typeface="Arial Black"/>
              </a:rPr>
              <a:t> </a:t>
            </a:r>
            <a:r>
              <a:rPr sz="3000" spc="-210" dirty="0">
                <a:latin typeface="Arial Black"/>
                <a:cs typeface="Arial Black"/>
              </a:rPr>
              <a:t>Clusters:</a:t>
            </a:r>
            <a:r>
              <a:rPr sz="3000" spc="-250" dirty="0">
                <a:latin typeface="Arial Black"/>
                <a:cs typeface="Arial Black"/>
              </a:rPr>
              <a:t> </a:t>
            </a:r>
            <a:r>
              <a:rPr sz="3000" spc="-50" dirty="0">
                <a:latin typeface="Arial Black"/>
                <a:cs typeface="Arial Black"/>
              </a:rPr>
              <a:t>8</a:t>
            </a:r>
            <a:endParaRPr sz="3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000" spc="-210" dirty="0">
                <a:latin typeface="Arial Black"/>
                <a:cs typeface="Arial Black"/>
              </a:rPr>
              <a:t>Growth</a:t>
            </a:r>
            <a:r>
              <a:rPr sz="3000" spc="-235" dirty="0">
                <a:latin typeface="Arial Black"/>
                <a:cs typeface="Arial Black"/>
              </a:rPr>
              <a:t> </a:t>
            </a:r>
            <a:r>
              <a:rPr sz="3000" spc="-210" dirty="0">
                <a:latin typeface="Arial Black"/>
                <a:cs typeface="Arial Black"/>
              </a:rPr>
              <a:t>Clusters:</a:t>
            </a:r>
            <a:r>
              <a:rPr sz="3000" spc="-229" dirty="0">
                <a:latin typeface="Arial Black"/>
                <a:cs typeface="Arial Black"/>
              </a:rPr>
              <a:t> </a:t>
            </a:r>
            <a:r>
              <a:rPr sz="3000" spc="-345" dirty="0">
                <a:latin typeface="Arial Black"/>
                <a:cs typeface="Arial Black"/>
              </a:rPr>
              <a:t>15</a:t>
            </a:r>
            <a:endParaRPr sz="30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9300" y="7527480"/>
            <a:ext cx="1028700" cy="27595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18318" y="2352844"/>
            <a:ext cx="12182474" cy="65817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2732" rIns="0" bIns="0" rtlCol="0">
            <a:spAutoFit/>
          </a:bodyPr>
          <a:lstStyle/>
          <a:p>
            <a:pPr marL="3336290">
              <a:lnSpc>
                <a:spcPct val="100000"/>
              </a:lnSpc>
              <a:spcBef>
                <a:spcPts val="100"/>
              </a:spcBef>
            </a:pPr>
            <a:r>
              <a:rPr sz="4500" spc="-254" dirty="0"/>
              <a:t>Partner</a:t>
            </a:r>
            <a:r>
              <a:rPr sz="4500" spc="-430" dirty="0"/>
              <a:t> </a:t>
            </a:r>
            <a:r>
              <a:rPr sz="4500" spc="-65" dirty="0"/>
              <a:t>360°</a:t>
            </a:r>
            <a:r>
              <a:rPr sz="4500" spc="-430" dirty="0"/>
              <a:t> </a:t>
            </a:r>
            <a:r>
              <a:rPr sz="4500" spc="-459" dirty="0"/>
              <a:t>View</a:t>
            </a:r>
            <a:r>
              <a:rPr sz="4500" spc="-430" dirty="0"/>
              <a:t> </a:t>
            </a:r>
            <a:r>
              <a:rPr sz="4500" spc="-525" dirty="0"/>
              <a:t>Tab</a:t>
            </a:r>
            <a:endParaRPr sz="4500"/>
          </a:p>
        </p:txBody>
      </p:sp>
      <p:sp>
        <p:nvSpPr>
          <p:cNvPr id="5" name="object 5"/>
          <p:cNvSpPr txBox="1"/>
          <p:nvPr/>
        </p:nvSpPr>
        <p:spPr>
          <a:xfrm>
            <a:off x="17659263" y="9627163"/>
            <a:ext cx="229235" cy="26797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400" spc="-110" dirty="0">
                <a:solidFill>
                  <a:srgbClr val="FFFFFF"/>
                </a:solidFill>
                <a:latin typeface="Arial Black"/>
                <a:cs typeface="Arial Black"/>
              </a:rPr>
              <a:t>06</a:t>
            </a:r>
            <a:endParaRPr sz="1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9300" y="7527480"/>
            <a:ext cx="1028700" cy="27595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4324" y="6312058"/>
            <a:ext cx="133349" cy="1333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2470" y="3375182"/>
            <a:ext cx="17962880" cy="429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16700"/>
              </a:lnSpc>
              <a:spcBef>
                <a:spcPts val="95"/>
              </a:spcBef>
            </a:pPr>
            <a:r>
              <a:rPr sz="3000" spc="-254" dirty="0">
                <a:latin typeface="Arial Black"/>
                <a:cs typeface="Arial Black"/>
              </a:rPr>
              <a:t>The </a:t>
            </a:r>
            <a:r>
              <a:rPr sz="3000" spc="-195" dirty="0">
                <a:latin typeface="Arial Black"/>
                <a:cs typeface="Arial Black"/>
              </a:rPr>
              <a:t>Goal:</a:t>
            </a:r>
            <a:r>
              <a:rPr sz="3000" spc="-254" dirty="0">
                <a:latin typeface="Arial Black"/>
                <a:cs typeface="Arial Black"/>
              </a:rPr>
              <a:t> </a:t>
            </a:r>
            <a:r>
              <a:rPr sz="3000" spc="-65" dirty="0">
                <a:latin typeface="Verdana"/>
                <a:cs typeface="Verdana"/>
              </a:rPr>
              <a:t>Identify</a:t>
            </a:r>
            <a:r>
              <a:rPr sz="3000" spc="-280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accounts</a:t>
            </a:r>
            <a:r>
              <a:rPr sz="3000" spc="-275" dirty="0">
                <a:latin typeface="Verdana"/>
                <a:cs typeface="Verdana"/>
              </a:rPr>
              <a:t> </a:t>
            </a:r>
            <a:r>
              <a:rPr sz="3000" spc="-40" dirty="0">
                <a:latin typeface="Verdana"/>
                <a:cs typeface="Verdana"/>
              </a:rPr>
              <a:t>that</a:t>
            </a:r>
            <a:r>
              <a:rPr sz="3000" spc="-280" dirty="0">
                <a:latin typeface="Verdana"/>
                <a:cs typeface="Verdana"/>
              </a:rPr>
              <a:t> </a:t>
            </a:r>
            <a:r>
              <a:rPr sz="3000" spc="-110" dirty="0">
                <a:latin typeface="Verdana"/>
                <a:cs typeface="Verdana"/>
              </a:rPr>
              <a:t>are</a:t>
            </a:r>
            <a:r>
              <a:rPr sz="3000" spc="-275" dirty="0">
                <a:latin typeface="Verdana"/>
                <a:cs typeface="Verdana"/>
              </a:rPr>
              <a:t> </a:t>
            </a:r>
            <a:r>
              <a:rPr sz="3000" spc="-70" dirty="0">
                <a:latin typeface="Verdana"/>
                <a:cs typeface="Verdana"/>
              </a:rPr>
              <a:t>likely</a:t>
            </a:r>
            <a:r>
              <a:rPr sz="3000" spc="-28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to</a:t>
            </a:r>
            <a:r>
              <a:rPr sz="3000" spc="-27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stop</a:t>
            </a:r>
            <a:r>
              <a:rPr sz="3000" spc="-280" dirty="0">
                <a:latin typeface="Verdana"/>
                <a:cs typeface="Verdana"/>
              </a:rPr>
              <a:t> </a:t>
            </a:r>
            <a:r>
              <a:rPr sz="3000" spc="-65" dirty="0">
                <a:latin typeface="Verdana"/>
                <a:cs typeface="Verdana"/>
              </a:rPr>
              <a:t>purchasing</a:t>
            </a:r>
            <a:r>
              <a:rPr sz="3000" spc="-275" dirty="0">
                <a:latin typeface="Verdana"/>
                <a:cs typeface="Verdana"/>
              </a:rPr>
              <a:t> </a:t>
            </a:r>
            <a:r>
              <a:rPr sz="3000" spc="-20" dirty="0">
                <a:latin typeface="Verdana"/>
                <a:cs typeface="Verdana"/>
              </a:rPr>
              <a:t>before</a:t>
            </a:r>
            <a:r>
              <a:rPr sz="3000" spc="-280" dirty="0">
                <a:latin typeface="Verdana"/>
                <a:cs typeface="Verdana"/>
              </a:rPr>
              <a:t> </a:t>
            </a:r>
            <a:r>
              <a:rPr sz="3000" spc="-40" dirty="0">
                <a:latin typeface="Verdana"/>
                <a:cs typeface="Verdana"/>
              </a:rPr>
              <a:t>they</a:t>
            </a:r>
            <a:r>
              <a:rPr sz="3000" spc="-275" dirty="0">
                <a:latin typeface="Verdana"/>
                <a:cs typeface="Verdana"/>
              </a:rPr>
              <a:t> </a:t>
            </a:r>
            <a:r>
              <a:rPr sz="3000" spc="-35" dirty="0">
                <a:latin typeface="Verdana"/>
                <a:cs typeface="Verdana"/>
              </a:rPr>
              <a:t>actually</a:t>
            </a:r>
            <a:r>
              <a:rPr sz="3000" spc="-280" dirty="0">
                <a:latin typeface="Verdana"/>
                <a:cs typeface="Verdana"/>
              </a:rPr>
              <a:t> </a:t>
            </a:r>
            <a:r>
              <a:rPr sz="3000" spc="-30" dirty="0">
                <a:latin typeface="Verdana"/>
                <a:cs typeface="Verdana"/>
              </a:rPr>
              <a:t>defect,</a:t>
            </a:r>
            <a:r>
              <a:rPr sz="3000" spc="-275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allowing </a:t>
            </a:r>
            <a:r>
              <a:rPr sz="3000" dirty="0">
                <a:latin typeface="Verdana"/>
                <a:cs typeface="Verdana"/>
              </a:rPr>
              <a:t>for</a:t>
            </a:r>
            <a:r>
              <a:rPr sz="3000" spc="-254" dirty="0">
                <a:latin typeface="Verdana"/>
                <a:cs typeface="Verdana"/>
              </a:rPr>
              <a:t> </a:t>
            </a:r>
            <a:r>
              <a:rPr sz="3000" spc="-35" dirty="0">
                <a:latin typeface="Verdana"/>
                <a:cs typeface="Verdana"/>
              </a:rPr>
              <a:t>proactive</a:t>
            </a:r>
            <a:r>
              <a:rPr sz="3000" spc="-250" dirty="0">
                <a:latin typeface="Verdana"/>
                <a:cs typeface="Verdana"/>
              </a:rPr>
              <a:t> </a:t>
            </a:r>
            <a:r>
              <a:rPr sz="3000" spc="-35" dirty="0">
                <a:latin typeface="Verdana"/>
                <a:cs typeface="Verdana"/>
              </a:rPr>
              <a:t>retention</a:t>
            </a:r>
            <a:r>
              <a:rPr sz="3000" spc="-254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campaigns.</a:t>
            </a:r>
            <a:endParaRPr sz="3000">
              <a:latin typeface="Verdana"/>
              <a:cs typeface="Verdana"/>
            </a:endParaRPr>
          </a:p>
          <a:p>
            <a:pPr marL="114935" marR="107314" algn="ctr">
              <a:lnSpc>
                <a:spcPts val="4200"/>
              </a:lnSpc>
              <a:spcBef>
                <a:spcPts val="240"/>
              </a:spcBef>
            </a:pPr>
            <a:r>
              <a:rPr sz="3000" spc="-254" dirty="0">
                <a:latin typeface="Arial Black"/>
                <a:cs typeface="Arial Black"/>
              </a:rPr>
              <a:t>The</a:t>
            </a:r>
            <a:r>
              <a:rPr sz="3000" spc="-250" dirty="0">
                <a:latin typeface="Arial Black"/>
                <a:cs typeface="Arial Black"/>
              </a:rPr>
              <a:t> </a:t>
            </a:r>
            <a:r>
              <a:rPr sz="3000" spc="-185" dirty="0">
                <a:latin typeface="Arial Black"/>
                <a:cs typeface="Arial Black"/>
              </a:rPr>
              <a:t>Approach:</a:t>
            </a:r>
            <a:r>
              <a:rPr sz="3000" spc="-250" dirty="0">
                <a:latin typeface="Arial Black"/>
                <a:cs typeface="Arial Black"/>
              </a:rPr>
              <a:t> </a:t>
            </a:r>
            <a:r>
              <a:rPr sz="3000" spc="-80" dirty="0">
                <a:latin typeface="Verdana"/>
                <a:cs typeface="Verdana"/>
              </a:rPr>
              <a:t>The</a:t>
            </a:r>
            <a:r>
              <a:rPr sz="3000" spc="-275" dirty="0">
                <a:latin typeface="Verdana"/>
                <a:cs typeface="Verdana"/>
              </a:rPr>
              <a:t> </a:t>
            </a:r>
            <a:r>
              <a:rPr sz="3000" spc="-45" dirty="0">
                <a:latin typeface="Verdana"/>
                <a:cs typeface="Verdana"/>
              </a:rPr>
              <a:t>ChurnCreditMixin</a:t>
            </a:r>
            <a:r>
              <a:rPr sz="3000" spc="-270" dirty="0">
                <a:latin typeface="Verdana"/>
                <a:cs typeface="Verdana"/>
              </a:rPr>
              <a:t> </a:t>
            </a:r>
            <a:r>
              <a:rPr sz="3000" spc="-55" dirty="0">
                <a:latin typeface="Verdana"/>
                <a:cs typeface="Verdana"/>
              </a:rPr>
              <a:t>transforms</a:t>
            </a:r>
            <a:r>
              <a:rPr sz="3000" spc="-275" dirty="0">
                <a:latin typeface="Verdana"/>
                <a:cs typeface="Verdana"/>
              </a:rPr>
              <a:t> </a:t>
            </a:r>
            <a:r>
              <a:rPr sz="3000" spc="-40" dirty="0">
                <a:latin typeface="Verdana"/>
                <a:cs typeface="Verdana"/>
              </a:rPr>
              <a:t>the</a:t>
            </a:r>
            <a:r>
              <a:rPr sz="3000" spc="-275" dirty="0">
                <a:latin typeface="Verdana"/>
                <a:cs typeface="Verdana"/>
              </a:rPr>
              <a:t> </a:t>
            </a:r>
            <a:r>
              <a:rPr sz="3000" spc="-25" dirty="0">
                <a:latin typeface="Verdana"/>
                <a:cs typeface="Verdana"/>
              </a:rPr>
              <a:t>churn</a:t>
            </a:r>
            <a:r>
              <a:rPr sz="3000" spc="-270" dirty="0">
                <a:latin typeface="Verdana"/>
                <a:cs typeface="Verdana"/>
              </a:rPr>
              <a:t> </a:t>
            </a:r>
            <a:r>
              <a:rPr sz="3000" spc="-25" dirty="0">
                <a:latin typeface="Verdana"/>
                <a:cs typeface="Verdana"/>
              </a:rPr>
              <a:t>problem</a:t>
            </a:r>
            <a:r>
              <a:rPr sz="3000" spc="-275" dirty="0">
                <a:latin typeface="Verdana"/>
                <a:cs typeface="Verdana"/>
              </a:rPr>
              <a:t> </a:t>
            </a:r>
            <a:r>
              <a:rPr sz="3000" spc="-25" dirty="0">
                <a:latin typeface="Verdana"/>
                <a:cs typeface="Verdana"/>
              </a:rPr>
              <a:t>into</a:t>
            </a:r>
            <a:r>
              <a:rPr sz="3000" spc="-270" dirty="0">
                <a:latin typeface="Verdana"/>
                <a:cs typeface="Verdana"/>
              </a:rPr>
              <a:t> </a:t>
            </a:r>
            <a:r>
              <a:rPr sz="3000" spc="-150" dirty="0">
                <a:latin typeface="Verdana"/>
                <a:cs typeface="Verdana"/>
              </a:rPr>
              <a:t>a</a:t>
            </a:r>
            <a:r>
              <a:rPr sz="3000" spc="-275" dirty="0">
                <a:latin typeface="Verdana"/>
                <a:cs typeface="Verdana"/>
              </a:rPr>
              <a:t> </a:t>
            </a:r>
            <a:r>
              <a:rPr sz="3000" spc="-30" dirty="0">
                <a:latin typeface="Verdana"/>
                <a:cs typeface="Verdana"/>
              </a:rPr>
              <a:t>combination</a:t>
            </a:r>
            <a:r>
              <a:rPr sz="3000" spc="-275" dirty="0">
                <a:latin typeface="Verdana"/>
                <a:cs typeface="Verdana"/>
              </a:rPr>
              <a:t> </a:t>
            </a:r>
            <a:r>
              <a:rPr sz="3000" spc="55" dirty="0">
                <a:latin typeface="Verdana"/>
                <a:cs typeface="Verdana"/>
              </a:rPr>
              <a:t>of</a:t>
            </a:r>
            <a:r>
              <a:rPr sz="3000" spc="-270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binary </a:t>
            </a:r>
            <a:r>
              <a:rPr sz="3000" spc="-20" dirty="0">
                <a:latin typeface="Verdana"/>
                <a:cs typeface="Verdana"/>
              </a:rPr>
              <a:t>classification</a:t>
            </a:r>
            <a:r>
              <a:rPr sz="3000" spc="-250" dirty="0">
                <a:latin typeface="Verdana"/>
                <a:cs typeface="Verdana"/>
              </a:rPr>
              <a:t> </a:t>
            </a:r>
            <a:r>
              <a:rPr sz="3000" spc="-65" dirty="0">
                <a:latin typeface="Verdana"/>
                <a:cs typeface="Verdana"/>
              </a:rPr>
              <a:t>and</a:t>
            </a:r>
            <a:r>
              <a:rPr sz="3000" spc="-245" dirty="0">
                <a:latin typeface="Verdana"/>
                <a:cs typeface="Verdana"/>
              </a:rPr>
              <a:t> </a:t>
            </a:r>
            <a:r>
              <a:rPr sz="3000" spc="-90" dirty="0">
                <a:latin typeface="Verdana"/>
                <a:cs typeface="Verdana"/>
              </a:rPr>
              <a:t>time-to-</a:t>
            </a:r>
            <a:r>
              <a:rPr sz="3000" spc="-60" dirty="0">
                <a:latin typeface="Verdana"/>
                <a:cs typeface="Verdana"/>
              </a:rPr>
              <a:t>event</a:t>
            </a:r>
            <a:r>
              <a:rPr sz="3000" spc="-250" dirty="0">
                <a:latin typeface="Verdana"/>
                <a:cs typeface="Verdana"/>
              </a:rPr>
              <a:t> </a:t>
            </a:r>
            <a:r>
              <a:rPr sz="3000" spc="-65" dirty="0">
                <a:latin typeface="Verdana"/>
                <a:cs typeface="Verdana"/>
              </a:rPr>
              <a:t>survival</a:t>
            </a:r>
            <a:r>
              <a:rPr sz="3000" spc="-245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analysis.</a:t>
            </a:r>
            <a:endParaRPr sz="3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sz="3000" spc="-254" dirty="0">
                <a:latin typeface="Arial Black"/>
                <a:cs typeface="Arial Black"/>
              </a:rPr>
              <a:t>The</a:t>
            </a:r>
            <a:r>
              <a:rPr sz="3000" spc="-270" dirty="0">
                <a:latin typeface="Arial Black"/>
                <a:cs typeface="Arial Black"/>
              </a:rPr>
              <a:t> </a:t>
            </a:r>
            <a:r>
              <a:rPr sz="3000" spc="-30" dirty="0">
                <a:latin typeface="Arial Black"/>
                <a:cs typeface="Arial Black"/>
              </a:rPr>
              <a:t>Models:</a:t>
            </a:r>
            <a:endParaRPr sz="3000">
              <a:latin typeface="Arial Black"/>
              <a:cs typeface="Arial Black"/>
            </a:endParaRPr>
          </a:p>
          <a:p>
            <a:pPr marL="485140" marR="356235">
              <a:lnSpc>
                <a:spcPts val="4200"/>
              </a:lnSpc>
              <a:spcBef>
                <a:spcPts val="100"/>
              </a:spcBef>
            </a:pPr>
            <a:r>
              <a:rPr sz="3000" spc="-204" dirty="0">
                <a:latin typeface="Arial Black"/>
                <a:cs typeface="Arial Black"/>
              </a:rPr>
              <a:t>LightGBM</a:t>
            </a:r>
            <a:r>
              <a:rPr sz="3000" spc="-240" dirty="0">
                <a:latin typeface="Arial Black"/>
                <a:cs typeface="Arial Black"/>
              </a:rPr>
              <a:t> </a:t>
            </a:r>
            <a:r>
              <a:rPr sz="3000" spc="-204" dirty="0">
                <a:latin typeface="Arial Black"/>
                <a:cs typeface="Arial Black"/>
              </a:rPr>
              <a:t>Classifier:</a:t>
            </a:r>
            <a:r>
              <a:rPr sz="3000" spc="-235" dirty="0">
                <a:latin typeface="Arial Black"/>
                <a:cs typeface="Arial Black"/>
              </a:rPr>
              <a:t> </a:t>
            </a:r>
            <a:r>
              <a:rPr sz="3000" spc="-90" dirty="0">
                <a:latin typeface="Verdana"/>
                <a:cs typeface="Verdana"/>
              </a:rPr>
              <a:t>Trained</a:t>
            </a:r>
            <a:r>
              <a:rPr sz="3000" spc="-260" dirty="0">
                <a:latin typeface="Verdana"/>
                <a:cs typeface="Verdana"/>
              </a:rPr>
              <a:t> </a:t>
            </a:r>
            <a:r>
              <a:rPr sz="3000" spc="-25" dirty="0">
                <a:latin typeface="Verdana"/>
                <a:cs typeface="Verdana"/>
              </a:rPr>
              <a:t>on</a:t>
            </a:r>
            <a:r>
              <a:rPr sz="3000" spc="-260" dirty="0">
                <a:latin typeface="Verdana"/>
                <a:cs typeface="Verdana"/>
              </a:rPr>
              <a:t> </a:t>
            </a:r>
            <a:r>
              <a:rPr sz="3000" spc="-20" dirty="0">
                <a:latin typeface="Verdana"/>
                <a:cs typeface="Verdana"/>
              </a:rPr>
              <a:t>historical</a:t>
            </a:r>
            <a:r>
              <a:rPr sz="3000" spc="-260" dirty="0">
                <a:latin typeface="Verdana"/>
                <a:cs typeface="Verdana"/>
              </a:rPr>
              <a:t> </a:t>
            </a:r>
            <a:r>
              <a:rPr sz="3000" spc="-45" dirty="0">
                <a:latin typeface="Verdana"/>
                <a:cs typeface="Verdana"/>
              </a:rPr>
              <a:t>temporal</a:t>
            </a:r>
            <a:r>
              <a:rPr sz="3000" spc="-260" dirty="0">
                <a:latin typeface="Verdana"/>
                <a:cs typeface="Verdana"/>
              </a:rPr>
              <a:t> </a:t>
            </a:r>
            <a:r>
              <a:rPr sz="3000" spc="-45" dirty="0">
                <a:latin typeface="Verdana"/>
                <a:cs typeface="Verdana"/>
              </a:rPr>
              <a:t>windows</a:t>
            </a:r>
            <a:r>
              <a:rPr sz="3000" spc="-260" dirty="0">
                <a:latin typeface="Verdana"/>
                <a:cs typeface="Verdana"/>
              </a:rPr>
              <a:t> </a:t>
            </a:r>
            <a:r>
              <a:rPr sz="3000" spc="-95" dirty="0">
                <a:latin typeface="Verdana"/>
                <a:cs typeface="Verdana"/>
              </a:rPr>
              <a:t>(comparing</a:t>
            </a:r>
            <a:r>
              <a:rPr sz="3000" spc="-260" dirty="0">
                <a:latin typeface="Verdana"/>
                <a:cs typeface="Verdana"/>
              </a:rPr>
              <a:t> </a:t>
            </a:r>
            <a:r>
              <a:rPr sz="3000" spc="-35" dirty="0">
                <a:latin typeface="Verdana"/>
                <a:cs typeface="Verdana"/>
              </a:rPr>
              <a:t>'recent'</a:t>
            </a:r>
            <a:r>
              <a:rPr sz="3000" spc="-260" dirty="0">
                <a:latin typeface="Verdana"/>
                <a:cs typeface="Verdana"/>
              </a:rPr>
              <a:t> </a:t>
            </a:r>
            <a:r>
              <a:rPr sz="3000" spc="-75" dirty="0">
                <a:latin typeface="Verdana"/>
                <a:cs typeface="Verdana"/>
              </a:rPr>
              <a:t>vs</a:t>
            </a:r>
            <a:r>
              <a:rPr sz="3000" spc="-260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'previous' </a:t>
            </a:r>
            <a:r>
              <a:rPr sz="3000" spc="-95" dirty="0">
                <a:latin typeface="Verdana"/>
                <a:cs typeface="Verdana"/>
              </a:rPr>
              <a:t>periods).</a:t>
            </a:r>
            <a:r>
              <a:rPr sz="3000" spc="-275" dirty="0">
                <a:latin typeface="Verdana"/>
                <a:cs typeface="Verdana"/>
              </a:rPr>
              <a:t> </a:t>
            </a:r>
            <a:r>
              <a:rPr sz="3000" spc="-85" dirty="0">
                <a:latin typeface="Verdana"/>
                <a:cs typeface="Verdana"/>
              </a:rPr>
              <a:t>Features</a:t>
            </a:r>
            <a:r>
              <a:rPr sz="3000" spc="-27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include</a:t>
            </a:r>
            <a:r>
              <a:rPr sz="3000" spc="-270" dirty="0">
                <a:latin typeface="Verdana"/>
                <a:cs typeface="Verdana"/>
              </a:rPr>
              <a:t> </a:t>
            </a:r>
            <a:r>
              <a:rPr sz="3000" spc="-85" dirty="0">
                <a:latin typeface="Verdana"/>
                <a:cs typeface="Verdana"/>
              </a:rPr>
              <a:t>revenue</a:t>
            </a:r>
            <a:r>
              <a:rPr sz="3000" spc="-27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drop</a:t>
            </a:r>
            <a:r>
              <a:rPr sz="3000" spc="-270" dirty="0">
                <a:latin typeface="Verdana"/>
                <a:cs typeface="Verdana"/>
              </a:rPr>
              <a:t> </a:t>
            </a:r>
            <a:r>
              <a:rPr sz="3000" spc="-90" dirty="0">
                <a:latin typeface="Verdana"/>
                <a:cs typeface="Verdana"/>
              </a:rPr>
              <a:t>percentages,</a:t>
            </a:r>
            <a:r>
              <a:rPr sz="3000" spc="-270" dirty="0">
                <a:latin typeface="Verdana"/>
                <a:cs typeface="Verdana"/>
              </a:rPr>
              <a:t> </a:t>
            </a:r>
            <a:r>
              <a:rPr sz="3000" spc="-75" dirty="0">
                <a:latin typeface="Verdana"/>
                <a:cs typeface="Verdana"/>
              </a:rPr>
              <a:t>payment</a:t>
            </a:r>
            <a:r>
              <a:rPr sz="3000" spc="-275" dirty="0">
                <a:latin typeface="Verdana"/>
                <a:cs typeface="Verdana"/>
              </a:rPr>
              <a:t> </a:t>
            </a:r>
            <a:r>
              <a:rPr sz="3000" spc="-114" dirty="0">
                <a:latin typeface="Verdana"/>
                <a:cs typeface="Verdana"/>
              </a:rPr>
              <a:t>regularity,</a:t>
            </a:r>
            <a:r>
              <a:rPr sz="3000" spc="-270" dirty="0">
                <a:latin typeface="Verdana"/>
                <a:cs typeface="Verdana"/>
              </a:rPr>
              <a:t> </a:t>
            </a:r>
            <a:r>
              <a:rPr sz="3000" spc="-65" dirty="0">
                <a:latin typeface="Verdana"/>
                <a:cs typeface="Verdana"/>
              </a:rPr>
              <a:t>and</a:t>
            </a:r>
            <a:r>
              <a:rPr sz="3000" spc="-270" dirty="0">
                <a:latin typeface="Verdana"/>
                <a:cs typeface="Verdana"/>
              </a:rPr>
              <a:t> </a:t>
            </a:r>
            <a:r>
              <a:rPr sz="3000" spc="-25" dirty="0">
                <a:latin typeface="Verdana"/>
                <a:cs typeface="Verdana"/>
              </a:rPr>
              <a:t>order</a:t>
            </a:r>
            <a:r>
              <a:rPr sz="3000" spc="-270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value </a:t>
            </a:r>
            <a:r>
              <a:rPr sz="3000" spc="-114" dirty="0">
                <a:latin typeface="Verdana"/>
                <a:cs typeface="Verdana"/>
              </a:rPr>
              <a:t>changes.</a:t>
            </a:r>
            <a:r>
              <a:rPr sz="3000" spc="-285" dirty="0">
                <a:latin typeface="Verdana"/>
                <a:cs typeface="Verdana"/>
              </a:rPr>
              <a:t> </a:t>
            </a:r>
            <a:r>
              <a:rPr sz="3000" spc="-80" dirty="0">
                <a:latin typeface="Verdana"/>
                <a:cs typeface="Verdana"/>
              </a:rPr>
              <a:t>The</a:t>
            </a:r>
            <a:r>
              <a:rPr sz="3000" spc="-280" dirty="0">
                <a:latin typeface="Verdana"/>
                <a:cs typeface="Verdana"/>
              </a:rPr>
              <a:t> </a:t>
            </a:r>
            <a:r>
              <a:rPr sz="3000" spc="-25" dirty="0">
                <a:latin typeface="Verdana"/>
                <a:cs typeface="Verdana"/>
              </a:rPr>
              <a:t>model</a:t>
            </a:r>
            <a:r>
              <a:rPr sz="3000" spc="-28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output</a:t>
            </a:r>
            <a:r>
              <a:rPr sz="3000" spc="-280" dirty="0">
                <a:latin typeface="Verdana"/>
                <a:cs typeface="Verdana"/>
              </a:rPr>
              <a:t> </a:t>
            </a:r>
            <a:r>
              <a:rPr sz="3000" spc="-40" dirty="0">
                <a:latin typeface="Verdana"/>
                <a:cs typeface="Verdana"/>
              </a:rPr>
              <a:t>true</a:t>
            </a:r>
            <a:r>
              <a:rPr sz="3000" spc="-280" dirty="0">
                <a:latin typeface="Verdana"/>
                <a:cs typeface="Verdana"/>
              </a:rPr>
              <a:t> </a:t>
            </a:r>
            <a:r>
              <a:rPr sz="3000" spc="-25" dirty="0">
                <a:latin typeface="Verdana"/>
                <a:cs typeface="Verdana"/>
              </a:rPr>
              <a:t>probabilities</a:t>
            </a:r>
            <a:r>
              <a:rPr sz="3000" spc="-280" dirty="0">
                <a:latin typeface="Verdana"/>
                <a:cs typeface="Verdana"/>
              </a:rPr>
              <a:t> </a:t>
            </a:r>
            <a:r>
              <a:rPr sz="3000" spc="55" dirty="0">
                <a:latin typeface="Verdana"/>
                <a:cs typeface="Verdana"/>
              </a:rPr>
              <a:t>of</a:t>
            </a:r>
            <a:r>
              <a:rPr sz="3000" spc="-280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churn.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659263" y="9627163"/>
            <a:ext cx="229235" cy="26797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400" spc="-110" dirty="0">
                <a:solidFill>
                  <a:srgbClr val="FFFFFF"/>
                </a:solidFill>
                <a:latin typeface="Arial Black"/>
                <a:cs typeface="Arial Black"/>
              </a:rPr>
              <a:t>08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00577" y="1373590"/>
            <a:ext cx="1011237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270" dirty="0"/>
              <a:t>Predictive</a:t>
            </a:r>
            <a:r>
              <a:rPr sz="4500" spc="-425" dirty="0"/>
              <a:t> </a:t>
            </a:r>
            <a:r>
              <a:rPr sz="4500" spc="-210" dirty="0"/>
              <a:t>Churn</a:t>
            </a:r>
            <a:r>
              <a:rPr sz="4500" spc="-425" dirty="0"/>
              <a:t> </a:t>
            </a:r>
            <a:r>
              <a:rPr sz="4500" spc="-1000" dirty="0"/>
              <a:t>&amp;</a:t>
            </a:r>
            <a:r>
              <a:rPr sz="4500" spc="-425" dirty="0"/>
              <a:t> </a:t>
            </a:r>
            <a:r>
              <a:rPr sz="4500" spc="-240" dirty="0"/>
              <a:t>Survival</a:t>
            </a:r>
            <a:r>
              <a:rPr sz="4500" spc="-420" dirty="0"/>
              <a:t> </a:t>
            </a:r>
            <a:r>
              <a:rPr sz="4500" spc="-325" dirty="0"/>
              <a:t>Analysis</a:t>
            </a:r>
            <a:endParaRPr sz="4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9300" y="7527480"/>
            <a:ext cx="1028700" cy="27595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175" y="5647091"/>
            <a:ext cx="133349" cy="1333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175" y="6180491"/>
            <a:ext cx="133349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175" y="6713891"/>
            <a:ext cx="133349" cy="13334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spc="-90" dirty="0">
                <a:latin typeface="Arial Black"/>
                <a:cs typeface="Arial Black"/>
              </a:rPr>
              <a:t>The</a:t>
            </a:r>
            <a:r>
              <a:rPr spc="170" dirty="0">
                <a:latin typeface="Arial Black"/>
                <a:cs typeface="Arial Black"/>
              </a:rPr>
              <a:t> </a:t>
            </a:r>
            <a:r>
              <a:rPr spc="-95" dirty="0">
                <a:latin typeface="Arial Black"/>
                <a:cs typeface="Arial Black"/>
              </a:rPr>
              <a:t>Goal:</a:t>
            </a:r>
            <a:r>
              <a:rPr spc="175" dirty="0">
                <a:latin typeface="Arial Black"/>
                <a:cs typeface="Arial Black"/>
              </a:rPr>
              <a:t> </a:t>
            </a:r>
            <a:r>
              <a:rPr dirty="0"/>
              <a:t>Protect</a:t>
            </a:r>
            <a:r>
              <a:rPr spc="140" dirty="0"/>
              <a:t> </a:t>
            </a:r>
            <a:r>
              <a:rPr dirty="0"/>
              <a:t>the</a:t>
            </a:r>
            <a:r>
              <a:rPr spc="145" dirty="0"/>
              <a:t> </a:t>
            </a:r>
            <a:r>
              <a:rPr spc="-20" dirty="0"/>
              <a:t>business's</a:t>
            </a:r>
            <a:r>
              <a:rPr spc="145" dirty="0"/>
              <a:t> </a:t>
            </a:r>
            <a:r>
              <a:rPr dirty="0"/>
              <a:t>cash</a:t>
            </a:r>
            <a:r>
              <a:rPr spc="145" dirty="0"/>
              <a:t> </a:t>
            </a:r>
            <a:r>
              <a:rPr dirty="0"/>
              <a:t>flow</a:t>
            </a:r>
            <a:r>
              <a:rPr spc="140" dirty="0"/>
              <a:t> </a:t>
            </a:r>
            <a:r>
              <a:rPr dirty="0"/>
              <a:t>by</a:t>
            </a:r>
            <a:r>
              <a:rPr spc="145" dirty="0"/>
              <a:t> </a:t>
            </a:r>
            <a:r>
              <a:rPr dirty="0"/>
              <a:t>identifying</a:t>
            </a:r>
            <a:r>
              <a:rPr spc="145" dirty="0"/>
              <a:t> </a:t>
            </a:r>
            <a:r>
              <a:rPr dirty="0"/>
              <a:t>partners</a:t>
            </a:r>
            <a:r>
              <a:rPr spc="145" dirty="0"/>
              <a:t> </a:t>
            </a:r>
            <a:r>
              <a:rPr dirty="0"/>
              <a:t>who</a:t>
            </a:r>
            <a:r>
              <a:rPr spc="140" dirty="0"/>
              <a:t> </a:t>
            </a:r>
            <a:r>
              <a:rPr dirty="0"/>
              <a:t>are</a:t>
            </a:r>
            <a:r>
              <a:rPr spc="145" dirty="0"/>
              <a:t> </a:t>
            </a:r>
            <a:r>
              <a:rPr dirty="0"/>
              <a:t>likely</a:t>
            </a:r>
            <a:r>
              <a:rPr spc="145" dirty="0"/>
              <a:t> </a:t>
            </a:r>
            <a:r>
              <a:rPr spc="-25" dirty="0"/>
              <a:t>to </a:t>
            </a:r>
            <a:r>
              <a:rPr spc="-20" dirty="0"/>
              <a:t>default</a:t>
            </a:r>
            <a:r>
              <a:rPr spc="-280" dirty="0"/>
              <a:t> </a:t>
            </a:r>
            <a:r>
              <a:rPr spc="-25" dirty="0"/>
              <a:t>on</a:t>
            </a:r>
            <a:r>
              <a:rPr spc="-280" dirty="0"/>
              <a:t> </a:t>
            </a:r>
            <a:r>
              <a:rPr spc="-75" dirty="0"/>
              <a:t>payments</a:t>
            </a:r>
            <a:r>
              <a:rPr spc="-275" dirty="0"/>
              <a:t> </a:t>
            </a:r>
            <a:r>
              <a:rPr dirty="0"/>
              <a:t>or</a:t>
            </a:r>
            <a:r>
              <a:rPr spc="-280" dirty="0"/>
              <a:t> </a:t>
            </a:r>
            <a:r>
              <a:rPr spc="-40" dirty="0"/>
              <a:t>significantly</a:t>
            </a:r>
            <a:r>
              <a:rPr spc="-280" dirty="0"/>
              <a:t> </a:t>
            </a:r>
            <a:r>
              <a:rPr spc="-55" dirty="0"/>
              <a:t>delay</a:t>
            </a:r>
            <a:r>
              <a:rPr spc="-275" dirty="0"/>
              <a:t> </a:t>
            </a:r>
            <a:r>
              <a:rPr spc="-35" dirty="0"/>
              <a:t>invoice</a:t>
            </a:r>
            <a:r>
              <a:rPr spc="-280" dirty="0"/>
              <a:t> </a:t>
            </a:r>
            <a:r>
              <a:rPr spc="-10" dirty="0"/>
              <a:t>settlements.</a:t>
            </a:r>
          </a:p>
          <a:p>
            <a:pPr marL="12700" marR="5080">
              <a:lnSpc>
                <a:spcPts val="4200"/>
              </a:lnSpc>
              <a:spcBef>
                <a:spcPts val="240"/>
              </a:spcBef>
            </a:pPr>
            <a:r>
              <a:rPr spc="-145" dirty="0">
                <a:latin typeface="Arial Black"/>
                <a:cs typeface="Arial Black"/>
              </a:rPr>
              <a:t>The</a:t>
            </a:r>
            <a:r>
              <a:rPr spc="-5" dirty="0">
                <a:latin typeface="Arial Black"/>
                <a:cs typeface="Arial Black"/>
              </a:rPr>
              <a:t> </a:t>
            </a:r>
            <a:r>
              <a:rPr spc="-145" dirty="0">
                <a:latin typeface="Arial Black"/>
                <a:cs typeface="Arial Black"/>
              </a:rPr>
              <a:t>Approach:</a:t>
            </a:r>
            <a:r>
              <a:rPr spc="-5" dirty="0">
                <a:latin typeface="Arial Black"/>
                <a:cs typeface="Arial Black"/>
              </a:rPr>
              <a:t> </a:t>
            </a:r>
            <a:r>
              <a:rPr dirty="0"/>
              <a:t>Financial</a:t>
            </a:r>
            <a:r>
              <a:rPr spc="-35" dirty="0"/>
              <a:t> </a:t>
            </a:r>
            <a:r>
              <a:rPr spc="-10" dirty="0"/>
              <a:t>risk</a:t>
            </a:r>
            <a:r>
              <a:rPr spc="-40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treated</a:t>
            </a:r>
            <a:r>
              <a:rPr spc="-40" dirty="0"/>
              <a:t> </a:t>
            </a:r>
            <a:r>
              <a:rPr dirty="0"/>
              <a:t>as</a:t>
            </a:r>
            <a:r>
              <a:rPr spc="-3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critical</a:t>
            </a:r>
            <a:r>
              <a:rPr spc="-35" dirty="0"/>
              <a:t> </a:t>
            </a:r>
            <a:r>
              <a:rPr dirty="0"/>
              <a:t>parallel</a:t>
            </a:r>
            <a:r>
              <a:rPr spc="-35" dirty="0"/>
              <a:t> </a:t>
            </a:r>
            <a:r>
              <a:rPr spc="-10" dirty="0"/>
              <a:t>dimension</a:t>
            </a:r>
            <a:r>
              <a:rPr spc="-4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sales</a:t>
            </a:r>
            <a:r>
              <a:rPr spc="-40" dirty="0"/>
              <a:t> </a:t>
            </a:r>
            <a:r>
              <a:rPr spc="-10" dirty="0"/>
              <a:t>churn. </a:t>
            </a:r>
            <a:r>
              <a:rPr spc="-55" dirty="0"/>
              <a:t>While</a:t>
            </a:r>
            <a:r>
              <a:rPr spc="-280" dirty="0"/>
              <a:t> </a:t>
            </a:r>
            <a:r>
              <a:rPr spc="-150" dirty="0"/>
              <a:t>a</a:t>
            </a:r>
            <a:r>
              <a:rPr spc="-275" dirty="0"/>
              <a:t> </a:t>
            </a:r>
            <a:r>
              <a:rPr spc="-40" dirty="0"/>
              <a:t>partner</a:t>
            </a:r>
            <a:r>
              <a:rPr spc="-275" dirty="0"/>
              <a:t> </a:t>
            </a:r>
            <a:r>
              <a:rPr spc="-160" dirty="0"/>
              <a:t>may</a:t>
            </a:r>
            <a:r>
              <a:rPr spc="-275" dirty="0"/>
              <a:t> </a:t>
            </a:r>
            <a:r>
              <a:rPr spc="-45" dirty="0"/>
              <a:t>buy</a:t>
            </a:r>
            <a:r>
              <a:rPr spc="-275" dirty="0"/>
              <a:t> </a:t>
            </a:r>
            <a:r>
              <a:rPr spc="-70" dirty="0"/>
              <a:t>frequently,</a:t>
            </a:r>
            <a:r>
              <a:rPr spc="-280" dirty="0"/>
              <a:t> </a:t>
            </a:r>
            <a:r>
              <a:rPr dirty="0"/>
              <a:t>poor</a:t>
            </a:r>
            <a:r>
              <a:rPr spc="-275" dirty="0"/>
              <a:t> </a:t>
            </a:r>
            <a:r>
              <a:rPr spc="-75" dirty="0"/>
              <a:t>payment</a:t>
            </a:r>
            <a:r>
              <a:rPr spc="-275" dirty="0"/>
              <a:t> </a:t>
            </a:r>
            <a:r>
              <a:rPr spc="-55" dirty="0"/>
              <a:t>behavior</a:t>
            </a:r>
            <a:r>
              <a:rPr spc="-275" dirty="0"/>
              <a:t> </a:t>
            </a:r>
            <a:r>
              <a:rPr spc="-100" dirty="0"/>
              <a:t>negates</a:t>
            </a:r>
            <a:r>
              <a:rPr spc="-275" dirty="0"/>
              <a:t> </a:t>
            </a:r>
            <a:r>
              <a:rPr spc="-35" dirty="0"/>
              <a:t>their</a:t>
            </a:r>
            <a:r>
              <a:rPr spc="-280" dirty="0"/>
              <a:t> </a:t>
            </a:r>
            <a:r>
              <a:rPr spc="-10" dirty="0"/>
              <a:t>value.</a:t>
            </a: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pc="-85" dirty="0"/>
              <a:t>Feature</a:t>
            </a:r>
            <a:r>
              <a:rPr spc="-265" dirty="0"/>
              <a:t> </a:t>
            </a:r>
            <a:r>
              <a:rPr spc="-40" dirty="0"/>
              <a:t>Engineering:</a:t>
            </a:r>
          </a:p>
          <a:p>
            <a:pPr marL="659765" marR="7752715">
              <a:lnSpc>
                <a:spcPts val="4200"/>
              </a:lnSpc>
              <a:spcBef>
                <a:spcPts val="240"/>
              </a:spcBef>
            </a:pPr>
            <a:r>
              <a:rPr spc="-85" dirty="0"/>
              <a:t>Evaluates</a:t>
            </a:r>
            <a:r>
              <a:rPr spc="-280" dirty="0"/>
              <a:t> </a:t>
            </a:r>
            <a:r>
              <a:rPr spc="-10" dirty="0"/>
              <a:t>total</a:t>
            </a:r>
            <a:r>
              <a:rPr spc="-275" dirty="0"/>
              <a:t> </a:t>
            </a:r>
            <a:r>
              <a:rPr spc="-55" dirty="0"/>
              <a:t>outstanding</a:t>
            </a:r>
            <a:r>
              <a:rPr spc="-280" dirty="0"/>
              <a:t> </a:t>
            </a:r>
            <a:r>
              <a:rPr spc="-45" dirty="0"/>
              <a:t>due</a:t>
            </a:r>
            <a:r>
              <a:rPr spc="-275" dirty="0"/>
              <a:t> </a:t>
            </a:r>
            <a:r>
              <a:rPr spc="-65" dirty="0"/>
              <a:t>payments. </a:t>
            </a:r>
            <a:r>
              <a:rPr spc="-45" dirty="0"/>
              <a:t>Calculates</a:t>
            </a:r>
            <a:r>
              <a:rPr spc="-265" dirty="0"/>
              <a:t> </a:t>
            </a:r>
            <a:r>
              <a:rPr spc="-75" dirty="0"/>
              <a:t>payment</a:t>
            </a:r>
            <a:r>
              <a:rPr spc="-265" dirty="0"/>
              <a:t> </a:t>
            </a:r>
            <a:r>
              <a:rPr spc="-60" dirty="0"/>
              <a:t>delays</a:t>
            </a:r>
            <a:r>
              <a:rPr spc="-265" dirty="0"/>
              <a:t> </a:t>
            </a:r>
            <a:r>
              <a:rPr spc="-65" dirty="0"/>
              <a:t>and</a:t>
            </a:r>
            <a:r>
              <a:rPr spc="-265" dirty="0"/>
              <a:t> </a:t>
            </a:r>
            <a:r>
              <a:rPr spc="-10" dirty="0"/>
              <a:t>regularity.</a:t>
            </a:r>
          </a:p>
          <a:p>
            <a:pPr marL="659765" marR="5080">
              <a:lnSpc>
                <a:spcPts val="4200"/>
              </a:lnSpc>
              <a:tabLst>
                <a:tab pos="4029710" algn="l"/>
                <a:tab pos="6480175" algn="l"/>
                <a:tab pos="7583805" algn="l"/>
                <a:tab pos="9138285" algn="l"/>
                <a:tab pos="10630535" algn="l"/>
                <a:tab pos="12003405" algn="l"/>
                <a:tab pos="13707110" algn="l"/>
                <a:tab pos="14639290" algn="l"/>
              </a:tabLst>
            </a:pPr>
            <a:r>
              <a:rPr spc="-80" dirty="0"/>
              <a:t>Cross-</a:t>
            </a:r>
            <a:r>
              <a:rPr spc="-10" dirty="0"/>
              <a:t>references</a:t>
            </a:r>
            <a:r>
              <a:rPr dirty="0"/>
              <a:t>	</a:t>
            </a:r>
            <a:r>
              <a:rPr spc="-10" dirty="0"/>
              <a:t>outstanding</a:t>
            </a:r>
            <a:r>
              <a:rPr dirty="0"/>
              <a:t>	</a:t>
            </a:r>
            <a:r>
              <a:rPr spc="-20" dirty="0"/>
              <a:t>debt</a:t>
            </a:r>
            <a:r>
              <a:rPr dirty="0"/>
              <a:t>	</a:t>
            </a:r>
            <a:r>
              <a:rPr spc="-10" dirty="0"/>
              <a:t>against</a:t>
            </a:r>
            <a:r>
              <a:rPr dirty="0"/>
              <a:t>	</a:t>
            </a:r>
            <a:r>
              <a:rPr spc="-10" dirty="0"/>
              <a:t>overall</a:t>
            </a:r>
            <a:r>
              <a:rPr dirty="0"/>
              <a:t>	</a:t>
            </a:r>
            <a:r>
              <a:rPr spc="-10" dirty="0"/>
              <a:t>spend</a:t>
            </a:r>
            <a:r>
              <a:rPr dirty="0"/>
              <a:t>	</a:t>
            </a:r>
            <a:r>
              <a:rPr spc="-10" dirty="0"/>
              <a:t>velocity</a:t>
            </a:r>
            <a:r>
              <a:rPr dirty="0"/>
              <a:t>	</a:t>
            </a:r>
            <a:r>
              <a:rPr spc="-25" dirty="0"/>
              <a:t>and</a:t>
            </a:r>
            <a:r>
              <a:rPr dirty="0"/>
              <a:t>	</a:t>
            </a:r>
            <a:r>
              <a:rPr spc="-80" dirty="0"/>
              <a:t>assigned </a:t>
            </a:r>
            <a:r>
              <a:rPr dirty="0"/>
              <a:t>credit</a:t>
            </a:r>
            <a:r>
              <a:rPr spc="-310" dirty="0"/>
              <a:t> </a:t>
            </a:r>
            <a:r>
              <a:rPr spc="-10" dirty="0"/>
              <a:t>limits.</a:t>
            </a:r>
          </a:p>
          <a:p>
            <a:pPr marL="12700" marR="5080" algn="just">
              <a:lnSpc>
                <a:spcPts val="4200"/>
              </a:lnSpc>
            </a:pPr>
            <a:r>
              <a:rPr spc="-185" dirty="0">
                <a:latin typeface="Arial Black"/>
                <a:cs typeface="Arial Black"/>
              </a:rPr>
              <a:t>Outcome:</a:t>
            </a:r>
            <a:r>
              <a:rPr spc="-65" dirty="0">
                <a:latin typeface="Arial Black"/>
                <a:cs typeface="Arial Black"/>
              </a:rPr>
              <a:t> </a:t>
            </a:r>
            <a:r>
              <a:rPr dirty="0"/>
              <a:t>The</a:t>
            </a:r>
            <a:r>
              <a:rPr spc="-210" dirty="0"/>
              <a:t> </a:t>
            </a:r>
            <a:r>
              <a:rPr spc="-55" dirty="0"/>
              <a:t>system</a:t>
            </a:r>
            <a:r>
              <a:rPr spc="-140" dirty="0"/>
              <a:t> </a:t>
            </a:r>
            <a:r>
              <a:rPr spc="-75" dirty="0"/>
              <a:t>assigns</a:t>
            </a:r>
            <a:r>
              <a:rPr spc="-140" dirty="0"/>
              <a:t> </a:t>
            </a:r>
            <a:r>
              <a:rPr dirty="0"/>
              <a:t>a</a:t>
            </a:r>
            <a:r>
              <a:rPr spc="-135" dirty="0"/>
              <a:t> </a:t>
            </a:r>
            <a:r>
              <a:rPr dirty="0"/>
              <a:t>distinct</a:t>
            </a:r>
            <a:r>
              <a:rPr spc="-140" dirty="0"/>
              <a:t> </a:t>
            </a:r>
            <a:r>
              <a:rPr dirty="0"/>
              <a:t>Credit</a:t>
            </a:r>
            <a:r>
              <a:rPr spc="-140" dirty="0"/>
              <a:t> </a:t>
            </a:r>
            <a:r>
              <a:rPr spc="-80" dirty="0"/>
              <a:t>Risk</a:t>
            </a:r>
            <a:r>
              <a:rPr spc="-135" dirty="0"/>
              <a:t> </a:t>
            </a:r>
            <a:r>
              <a:rPr dirty="0"/>
              <a:t>Score</a:t>
            </a:r>
            <a:r>
              <a:rPr spc="-140" dirty="0"/>
              <a:t> </a:t>
            </a:r>
            <a:r>
              <a:rPr spc="-150" dirty="0"/>
              <a:t>(Low,</a:t>
            </a:r>
            <a:r>
              <a:rPr spc="-114" dirty="0"/>
              <a:t> </a:t>
            </a:r>
            <a:r>
              <a:rPr spc="-25" dirty="0"/>
              <a:t>Medium,</a:t>
            </a:r>
            <a:r>
              <a:rPr spc="-135" dirty="0"/>
              <a:t> </a:t>
            </a:r>
            <a:r>
              <a:rPr spc="-95" dirty="0"/>
              <a:t>High,</a:t>
            </a:r>
            <a:r>
              <a:rPr spc="-140" dirty="0"/>
              <a:t> </a:t>
            </a:r>
            <a:r>
              <a:rPr spc="-10" dirty="0"/>
              <a:t>Critical) </a:t>
            </a:r>
            <a:r>
              <a:rPr dirty="0"/>
              <a:t>which</a:t>
            </a:r>
            <a:r>
              <a:rPr spc="-15" dirty="0"/>
              <a:t> </a:t>
            </a:r>
            <a:r>
              <a:rPr dirty="0"/>
              <a:t>acts</a:t>
            </a:r>
            <a:r>
              <a:rPr spc="-10" dirty="0"/>
              <a:t> </a:t>
            </a:r>
            <a:r>
              <a:rPr dirty="0"/>
              <a:t>as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hard</a:t>
            </a:r>
            <a:r>
              <a:rPr spc="-10" dirty="0"/>
              <a:t> </a:t>
            </a:r>
            <a:r>
              <a:rPr dirty="0"/>
              <a:t>constraint</a:t>
            </a:r>
            <a:r>
              <a:rPr spc="-15" dirty="0"/>
              <a:t> </a:t>
            </a:r>
            <a:r>
              <a:rPr dirty="0"/>
              <a:t>on</a:t>
            </a:r>
            <a:r>
              <a:rPr spc="-1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spc="-25" dirty="0"/>
              <a:t>dashboard.</a:t>
            </a:r>
            <a:r>
              <a:rPr spc="-10" dirty="0"/>
              <a:t> </a:t>
            </a:r>
            <a:r>
              <a:rPr spc="-20" dirty="0"/>
              <a:t>Sales</a:t>
            </a:r>
            <a:r>
              <a:rPr spc="-10" dirty="0"/>
              <a:t> </a:t>
            </a:r>
            <a:r>
              <a:rPr dirty="0"/>
              <a:t>reps</a:t>
            </a:r>
            <a:r>
              <a:rPr spc="-10" dirty="0"/>
              <a:t> </a:t>
            </a:r>
            <a:r>
              <a:rPr dirty="0"/>
              <a:t>are</a:t>
            </a:r>
            <a:r>
              <a:rPr spc="-15" dirty="0"/>
              <a:t> </a:t>
            </a:r>
            <a:r>
              <a:rPr dirty="0"/>
              <a:t>alerted</a:t>
            </a:r>
            <a:r>
              <a:rPr spc="-10" dirty="0"/>
              <a:t> </a:t>
            </a:r>
            <a:r>
              <a:rPr dirty="0"/>
              <a:t>to</a:t>
            </a:r>
            <a:r>
              <a:rPr spc="-10" dirty="0"/>
              <a:t> withhold </a:t>
            </a:r>
            <a:r>
              <a:rPr spc="-20" dirty="0"/>
              <a:t>further</a:t>
            </a:r>
            <a:r>
              <a:rPr spc="-275" dirty="0"/>
              <a:t> </a:t>
            </a:r>
            <a:r>
              <a:rPr spc="-70" dirty="0"/>
              <a:t>bulk</a:t>
            </a:r>
            <a:r>
              <a:rPr spc="-275" dirty="0"/>
              <a:t> </a:t>
            </a:r>
            <a:r>
              <a:rPr spc="-55" dirty="0"/>
              <a:t>shipments</a:t>
            </a:r>
            <a:r>
              <a:rPr spc="-275" dirty="0"/>
              <a:t> </a:t>
            </a:r>
            <a:r>
              <a:rPr dirty="0"/>
              <a:t>to</a:t>
            </a:r>
            <a:r>
              <a:rPr spc="-275" dirty="0"/>
              <a:t> </a:t>
            </a:r>
            <a:r>
              <a:rPr spc="-90" dirty="0"/>
              <a:t>"High</a:t>
            </a:r>
            <a:r>
              <a:rPr spc="-275" dirty="0"/>
              <a:t> </a:t>
            </a:r>
            <a:r>
              <a:rPr spc="-110" dirty="0"/>
              <a:t>Risk"</a:t>
            </a:r>
            <a:r>
              <a:rPr spc="-275" dirty="0"/>
              <a:t> </a:t>
            </a:r>
            <a:r>
              <a:rPr spc="-10" dirty="0"/>
              <a:t>accounts</a:t>
            </a:r>
            <a:r>
              <a:rPr spc="-275" dirty="0"/>
              <a:t> </a:t>
            </a:r>
            <a:r>
              <a:rPr spc="-35" dirty="0"/>
              <a:t>despite</a:t>
            </a:r>
            <a:r>
              <a:rPr spc="-270" dirty="0"/>
              <a:t> </a:t>
            </a:r>
            <a:r>
              <a:rPr spc="-35" dirty="0"/>
              <a:t>positive</a:t>
            </a:r>
            <a:r>
              <a:rPr spc="-275" dirty="0"/>
              <a:t> </a:t>
            </a:r>
            <a:r>
              <a:rPr spc="-70" dirty="0"/>
              <a:t>sales</a:t>
            </a:r>
            <a:r>
              <a:rPr spc="-275" dirty="0"/>
              <a:t> </a:t>
            </a:r>
            <a:r>
              <a:rPr spc="-10" dirty="0"/>
              <a:t>indicators.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659263" y="9627163"/>
            <a:ext cx="229235" cy="26797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400" spc="-110" dirty="0">
                <a:solidFill>
                  <a:srgbClr val="FFFFFF"/>
                </a:solidFill>
                <a:latin typeface="Arial Black"/>
                <a:cs typeface="Arial Black"/>
              </a:rPr>
              <a:t>08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080473" y="1373590"/>
            <a:ext cx="1048766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300" dirty="0"/>
              <a:t>Financial</a:t>
            </a:r>
            <a:r>
              <a:rPr sz="4500" spc="-420" dirty="0"/>
              <a:t> </a:t>
            </a:r>
            <a:r>
              <a:rPr sz="4500" spc="-459" dirty="0"/>
              <a:t>Risk</a:t>
            </a:r>
            <a:r>
              <a:rPr sz="4500" spc="-420" dirty="0"/>
              <a:t> </a:t>
            </a:r>
            <a:r>
              <a:rPr sz="4500" spc="-1000" dirty="0"/>
              <a:t>&amp;</a:t>
            </a:r>
            <a:r>
              <a:rPr sz="4500" spc="-420" dirty="0"/>
              <a:t> </a:t>
            </a:r>
            <a:r>
              <a:rPr sz="4500" spc="-245" dirty="0"/>
              <a:t>Credit</a:t>
            </a:r>
            <a:r>
              <a:rPr sz="4500" spc="-420" dirty="0"/>
              <a:t> </a:t>
            </a:r>
            <a:r>
              <a:rPr sz="4500" spc="-250" dirty="0"/>
              <a:t>Health</a:t>
            </a:r>
            <a:r>
              <a:rPr sz="4500" spc="-415" dirty="0"/>
              <a:t> </a:t>
            </a:r>
            <a:r>
              <a:rPr sz="4500" spc="-335" dirty="0"/>
              <a:t>Scoring</a:t>
            </a:r>
            <a:endParaRPr sz="4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9300" y="9258300"/>
            <a:ext cx="1028700" cy="1028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92745" y="2156644"/>
            <a:ext cx="7629525" cy="3809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92745" y="6042718"/>
            <a:ext cx="7629524" cy="40195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8651" rIns="0" bIns="0" rtlCol="0">
            <a:spAutoFit/>
          </a:bodyPr>
          <a:lstStyle/>
          <a:p>
            <a:pPr marL="2841625" marR="5080" indent="19685">
              <a:lnSpc>
                <a:spcPct val="116700"/>
              </a:lnSpc>
              <a:spcBef>
                <a:spcPts val="95"/>
              </a:spcBef>
            </a:pPr>
            <a:r>
              <a:rPr sz="4500" spc="-170" dirty="0"/>
              <a:t>Revenue</a:t>
            </a:r>
            <a:r>
              <a:rPr sz="4500" spc="-480" dirty="0"/>
              <a:t> </a:t>
            </a:r>
            <a:r>
              <a:rPr sz="4500" spc="-130" dirty="0"/>
              <a:t>Forecasting</a:t>
            </a:r>
            <a:r>
              <a:rPr sz="4500" spc="-375" dirty="0"/>
              <a:t> </a:t>
            </a:r>
            <a:r>
              <a:rPr sz="4500" spc="-780" dirty="0"/>
              <a:t>&amp; </a:t>
            </a:r>
            <a:r>
              <a:rPr sz="4500" spc="-130" dirty="0"/>
              <a:t>Lifecycle</a:t>
            </a:r>
            <a:r>
              <a:rPr sz="4500" spc="-495" dirty="0"/>
              <a:t> </a:t>
            </a:r>
            <a:r>
              <a:rPr sz="4500" spc="-35" dirty="0"/>
              <a:t>Management</a:t>
            </a:r>
            <a:endParaRPr sz="4500"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0709" y="2695575"/>
            <a:ext cx="133349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0709" y="6362699"/>
            <a:ext cx="133349" cy="1333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1235" y="2435206"/>
            <a:ext cx="6744970" cy="6311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3000" spc="-185" dirty="0">
                <a:latin typeface="Arial Black"/>
                <a:cs typeface="Arial Black"/>
              </a:rPr>
              <a:t>Demand</a:t>
            </a:r>
            <a:r>
              <a:rPr sz="3000" spc="-235" dirty="0">
                <a:latin typeface="Arial Black"/>
                <a:cs typeface="Arial Black"/>
              </a:rPr>
              <a:t> Forecasting:</a:t>
            </a:r>
            <a:r>
              <a:rPr sz="3000" spc="-200" dirty="0">
                <a:latin typeface="Arial Black"/>
                <a:cs typeface="Arial Black"/>
              </a:rPr>
              <a:t> </a:t>
            </a:r>
            <a:r>
              <a:rPr sz="3000" spc="-50" dirty="0">
                <a:latin typeface="Verdana"/>
                <a:cs typeface="Verdana"/>
              </a:rPr>
              <a:t>Utilizes</a:t>
            </a:r>
            <a:r>
              <a:rPr sz="3000" spc="-254" dirty="0">
                <a:latin typeface="Verdana"/>
                <a:cs typeface="Verdana"/>
              </a:rPr>
              <a:t> </a:t>
            </a:r>
            <a:r>
              <a:rPr sz="3000" spc="-20" dirty="0">
                <a:latin typeface="Verdana"/>
                <a:cs typeface="Verdana"/>
              </a:rPr>
              <a:t>Simple </a:t>
            </a:r>
            <a:r>
              <a:rPr sz="3000" spc="-65" dirty="0">
                <a:latin typeface="Verdana"/>
                <a:cs typeface="Verdana"/>
              </a:rPr>
              <a:t>Exponential</a:t>
            </a:r>
            <a:r>
              <a:rPr sz="3000" spc="-270" dirty="0">
                <a:latin typeface="Verdana"/>
                <a:cs typeface="Verdana"/>
              </a:rPr>
              <a:t> </a:t>
            </a:r>
            <a:r>
              <a:rPr sz="3000" spc="-90" dirty="0">
                <a:latin typeface="Verdana"/>
                <a:cs typeface="Verdana"/>
              </a:rPr>
              <a:t>Smoothing</a:t>
            </a:r>
            <a:r>
              <a:rPr sz="3000" spc="-265" dirty="0">
                <a:latin typeface="Verdana"/>
                <a:cs typeface="Verdana"/>
              </a:rPr>
              <a:t> </a:t>
            </a:r>
            <a:r>
              <a:rPr sz="3000" spc="-275" dirty="0">
                <a:latin typeface="Verdana"/>
                <a:cs typeface="Verdana"/>
              </a:rPr>
              <a:t>(SES)</a:t>
            </a:r>
            <a:r>
              <a:rPr sz="3000" spc="-270" dirty="0">
                <a:latin typeface="Verdana"/>
                <a:cs typeface="Verdana"/>
              </a:rPr>
              <a:t> </a:t>
            </a:r>
            <a:r>
              <a:rPr sz="3000" spc="-25" dirty="0">
                <a:latin typeface="Verdana"/>
                <a:cs typeface="Verdana"/>
              </a:rPr>
              <a:t>to </a:t>
            </a:r>
            <a:r>
              <a:rPr sz="3000" spc="-30" dirty="0">
                <a:latin typeface="Verdana"/>
                <a:cs typeface="Verdana"/>
              </a:rPr>
              <a:t>forecast</a:t>
            </a:r>
            <a:r>
              <a:rPr sz="3000" spc="-280" dirty="0">
                <a:latin typeface="Verdana"/>
                <a:cs typeface="Verdana"/>
              </a:rPr>
              <a:t> </a:t>
            </a:r>
            <a:r>
              <a:rPr sz="3000" spc="-40" dirty="0">
                <a:latin typeface="Verdana"/>
                <a:cs typeface="Verdana"/>
              </a:rPr>
              <a:t>the</a:t>
            </a:r>
            <a:r>
              <a:rPr sz="3000" spc="-280" dirty="0">
                <a:latin typeface="Verdana"/>
                <a:cs typeface="Verdana"/>
              </a:rPr>
              <a:t> </a:t>
            </a:r>
            <a:r>
              <a:rPr sz="3000" spc="-95" dirty="0">
                <a:latin typeface="Verdana"/>
                <a:cs typeface="Verdana"/>
              </a:rPr>
              <a:t>exact</a:t>
            </a:r>
            <a:r>
              <a:rPr sz="3000" spc="-280" dirty="0">
                <a:latin typeface="Verdana"/>
                <a:cs typeface="Verdana"/>
              </a:rPr>
              <a:t> </a:t>
            </a:r>
            <a:r>
              <a:rPr sz="3000" spc="-85" dirty="0">
                <a:latin typeface="Verdana"/>
                <a:cs typeface="Verdana"/>
              </a:rPr>
              <a:t>revenue</a:t>
            </a:r>
            <a:r>
              <a:rPr sz="3000" spc="-275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demand </a:t>
            </a:r>
            <a:r>
              <a:rPr sz="3000" dirty="0">
                <a:latin typeface="Verdana"/>
                <a:cs typeface="Verdana"/>
              </a:rPr>
              <a:t>for</a:t>
            </a:r>
            <a:r>
              <a:rPr sz="3000" spc="-280" dirty="0">
                <a:latin typeface="Verdana"/>
                <a:cs typeface="Verdana"/>
              </a:rPr>
              <a:t> </a:t>
            </a:r>
            <a:r>
              <a:rPr sz="3000" spc="-40" dirty="0">
                <a:latin typeface="Verdana"/>
                <a:cs typeface="Verdana"/>
              </a:rPr>
              <a:t>the</a:t>
            </a:r>
            <a:r>
              <a:rPr sz="3000" spc="-275" dirty="0">
                <a:latin typeface="Verdana"/>
                <a:cs typeface="Verdana"/>
              </a:rPr>
              <a:t> </a:t>
            </a:r>
            <a:r>
              <a:rPr sz="3000" spc="-65" dirty="0">
                <a:latin typeface="Verdana"/>
                <a:cs typeface="Verdana"/>
              </a:rPr>
              <a:t>upcoming</a:t>
            </a:r>
            <a:r>
              <a:rPr sz="3000" spc="-280" dirty="0">
                <a:latin typeface="Verdana"/>
                <a:cs typeface="Verdana"/>
              </a:rPr>
              <a:t> </a:t>
            </a:r>
            <a:r>
              <a:rPr sz="3000" spc="-60" dirty="0">
                <a:latin typeface="Verdana"/>
                <a:cs typeface="Verdana"/>
              </a:rPr>
              <a:t>month</a:t>
            </a:r>
            <a:r>
              <a:rPr sz="3000" spc="-275" dirty="0">
                <a:latin typeface="Verdana"/>
                <a:cs typeface="Verdana"/>
              </a:rPr>
              <a:t> </a:t>
            </a:r>
            <a:r>
              <a:rPr sz="3000" spc="-55" dirty="0">
                <a:latin typeface="Verdana"/>
                <a:cs typeface="Verdana"/>
              </a:rPr>
              <a:t>based</a:t>
            </a:r>
            <a:r>
              <a:rPr sz="3000" spc="-275" dirty="0">
                <a:latin typeface="Verdana"/>
                <a:cs typeface="Verdana"/>
              </a:rPr>
              <a:t> </a:t>
            </a:r>
            <a:r>
              <a:rPr sz="3000" spc="-25" dirty="0">
                <a:latin typeface="Verdana"/>
                <a:cs typeface="Verdana"/>
              </a:rPr>
              <a:t>on </a:t>
            </a:r>
            <a:r>
              <a:rPr sz="3000" spc="-30" dirty="0">
                <a:latin typeface="Verdana"/>
                <a:cs typeface="Verdana"/>
              </a:rPr>
              <a:t>historically</a:t>
            </a:r>
            <a:r>
              <a:rPr sz="3000" spc="-254" dirty="0">
                <a:latin typeface="Verdana"/>
                <a:cs typeface="Verdana"/>
              </a:rPr>
              <a:t> </a:t>
            </a:r>
            <a:r>
              <a:rPr sz="3000" spc="-75" dirty="0">
                <a:latin typeface="Verdana"/>
                <a:cs typeface="Verdana"/>
              </a:rPr>
              <a:t>weighted</a:t>
            </a:r>
            <a:r>
              <a:rPr sz="3000" spc="-250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trajectories, </a:t>
            </a:r>
            <a:r>
              <a:rPr sz="3000" spc="-114" dirty="0">
                <a:latin typeface="Verdana"/>
                <a:cs typeface="Verdana"/>
              </a:rPr>
              <a:t>giving</a:t>
            </a:r>
            <a:r>
              <a:rPr sz="3000" spc="-290" dirty="0">
                <a:latin typeface="Verdana"/>
                <a:cs typeface="Verdana"/>
              </a:rPr>
              <a:t> </a:t>
            </a:r>
            <a:r>
              <a:rPr sz="3000" spc="-60" dirty="0">
                <a:latin typeface="Verdana"/>
                <a:cs typeface="Verdana"/>
              </a:rPr>
              <a:t>reps</a:t>
            </a:r>
            <a:r>
              <a:rPr sz="3000" spc="-285" dirty="0">
                <a:latin typeface="Verdana"/>
                <a:cs typeface="Verdana"/>
              </a:rPr>
              <a:t> </a:t>
            </a:r>
            <a:r>
              <a:rPr sz="3000" spc="-150" dirty="0">
                <a:latin typeface="Verdana"/>
                <a:cs typeface="Verdana"/>
              </a:rPr>
              <a:t>a</a:t>
            </a:r>
            <a:r>
              <a:rPr sz="3000" spc="-285" dirty="0">
                <a:latin typeface="Verdana"/>
                <a:cs typeface="Verdana"/>
              </a:rPr>
              <a:t> </a:t>
            </a:r>
            <a:r>
              <a:rPr sz="3000" spc="-35" dirty="0">
                <a:latin typeface="Verdana"/>
                <a:cs typeface="Verdana"/>
              </a:rPr>
              <a:t>clear</a:t>
            </a:r>
            <a:r>
              <a:rPr sz="3000" spc="-290" dirty="0">
                <a:latin typeface="Verdana"/>
                <a:cs typeface="Verdana"/>
              </a:rPr>
              <a:t> </a:t>
            </a:r>
            <a:r>
              <a:rPr sz="3000" spc="-55" dirty="0">
                <a:latin typeface="Verdana"/>
                <a:cs typeface="Verdana"/>
              </a:rPr>
              <a:t>baseline</a:t>
            </a:r>
            <a:r>
              <a:rPr sz="3000" spc="-28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to</a:t>
            </a:r>
            <a:r>
              <a:rPr sz="3000" spc="-285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pitch against.</a:t>
            </a:r>
            <a:endParaRPr sz="3000">
              <a:latin typeface="Verdana"/>
              <a:cs typeface="Verdana"/>
            </a:endParaRPr>
          </a:p>
          <a:p>
            <a:pPr marL="12700" marR="267970">
              <a:lnSpc>
                <a:spcPct val="114599"/>
              </a:lnSpc>
            </a:pPr>
            <a:r>
              <a:rPr sz="3000" spc="-215" dirty="0">
                <a:latin typeface="Arial Black"/>
                <a:cs typeface="Arial Black"/>
              </a:rPr>
              <a:t>Growth</a:t>
            </a:r>
            <a:r>
              <a:rPr sz="3000" spc="-250" dirty="0">
                <a:latin typeface="Arial Black"/>
                <a:cs typeface="Arial Black"/>
              </a:rPr>
              <a:t> </a:t>
            </a:r>
            <a:r>
              <a:rPr sz="3000" spc="-210" dirty="0">
                <a:latin typeface="Arial Black"/>
                <a:cs typeface="Arial Black"/>
              </a:rPr>
              <a:t>Velocity</a:t>
            </a:r>
            <a:r>
              <a:rPr sz="3000" spc="-245" dirty="0">
                <a:latin typeface="Arial Black"/>
                <a:cs typeface="Arial Black"/>
              </a:rPr>
              <a:t> </a:t>
            </a:r>
            <a:r>
              <a:rPr sz="3000" spc="-215" dirty="0">
                <a:latin typeface="Arial Black"/>
                <a:cs typeface="Arial Black"/>
              </a:rPr>
              <a:t>Scoring: </a:t>
            </a:r>
            <a:r>
              <a:rPr sz="3000" spc="-50" dirty="0">
                <a:latin typeface="Verdana"/>
                <a:cs typeface="Verdana"/>
              </a:rPr>
              <a:t>Evaluates </a:t>
            </a:r>
            <a:r>
              <a:rPr sz="3000" spc="-85" dirty="0">
                <a:latin typeface="Verdana"/>
                <a:cs typeface="Verdana"/>
              </a:rPr>
              <a:t>revenue</a:t>
            </a:r>
            <a:r>
              <a:rPr sz="3000" spc="-285" dirty="0">
                <a:latin typeface="Verdana"/>
                <a:cs typeface="Verdana"/>
              </a:rPr>
              <a:t> </a:t>
            </a:r>
            <a:r>
              <a:rPr sz="3000" spc="-40" dirty="0">
                <a:latin typeface="Verdana"/>
                <a:cs typeface="Verdana"/>
              </a:rPr>
              <a:t>trend</a:t>
            </a:r>
            <a:r>
              <a:rPr sz="3000" spc="-280" dirty="0">
                <a:latin typeface="Verdana"/>
                <a:cs typeface="Verdana"/>
              </a:rPr>
              <a:t> </a:t>
            </a:r>
            <a:r>
              <a:rPr sz="3000" spc="-75" dirty="0">
                <a:latin typeface="Verdana"/>
                <a:cs typeface="Verdana"/>
              </a:rPr>
              <a:t>slope,</a:t>
            </a:r>
            <a:r>
              <a:rPr sz="3000" spc="-280" dirty="0">
                <a:latin typeface="Verdana"/>
                <a:cs typeface="Verdana"/>
              </a:rPr>
              <a:t> </a:t>
            </a:r>
            <a:r>
              <a:rPr sz="3000" spc="-65" dirty="0">
                <a:latin typeface="Verdana"/>
                <a:cs typeface="Verdana"/>
              </a:rPr>
              <a:t>buyer</a:t>
            </a:r>
            <a:r>
              <a:rPr sz="3000" spc="-285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count </a:t>
            </a:r>
            <a:r>
              <a:rPr sz="3000" spc="-120" dirty="0">
                <a:latin typeface="Verdana"/>
                <a:cs typeface="Verdana"/>
              </a:rPr>
              <a:t>momentum,</a:t>
            </a:r>
            <a:r>
              <a:rPr sz="3000" spc="-280" dirty="0">
                <a:latin typeface="Verdana"/>
                <a:cs typeface="Verdana"/>
              </a:rPr>
              <a:t> </a:t>
            </a:r>
            <a:r>
              <a:rPr sz="3000" spc="-65" dirty="0">
                <a:latin typeface="Verdana"/>
                <a:cs typeface="Verdana"/>
              </a:rPr>
              <a:t>and</a:t>
            </a:r>
            <a:r>
              <a:rPr sz="3000" spc="-280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transaction </a:t>
            </a:r>
            <a:r>
              <a:rPr sz="3000" spc="-50" dirty="0">
                <a:latin typeface="Verdana"/>
                <a:cs typeface="Verdana"/>
              </a:rPr>
              <a:t>intensity</a:t>
            </a:r>
            <a:r>
              <a:rPr sz="3000" spc="-27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to</a:t>
            </a:r>
            <a:r>
              <a:rPr sz="3000" spc="-265" dirty="0">
                <a:latin typeface="Verdana"/>
                <a:cs typeface="Verdana"/>
              </a:rPr>
              <a:t> </a:t>
            </a:r>
            <a:r>
              <a:rPr sz="3000" spc="-80" dirty="0">
                <a:latin typeface="Verdana"/>
                <a:cs typeface="Verdana"/>
              </a:rPr>
              <a:t>categorize</a:t>
            </a:r>
            <a:r>
              <a:rPr sz="3000" spc="-270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products </a:t>
            </a:r>
            <a:r>
              <a:rPr sz="3000" spc="-275" dirty="0">
                <a:latin typeface="Verdana"/>
                <a:cs typeface="Verdana"/>
              </a:rPr>
              <a:t>(e.g.,</a:t>
            </a:r>
            <a:r>
              <a:rPr sz="3000" spc="-285" dirty="0">
                <a:latin typeface="Verdana"/>
                <a:cs typeface="Verdana"/>
              </a:rPr>
              <a:t> </a:t>
            </a:r>
            <a:r>
              <a:rPr sz="3000" spc="-95" dirty="0">
                <a:latin typeface="Verdana"/>
                <a:cs typeface="Verdana"/>
              </a:rPr>
              <a:t>Growth,</a:t>
            </a:r>
            <a:r>
              <a:rPr sz="3000" spc="-285" dirty="0">
                <a:latin typeface="Verdana"/>
                <a:cs typeface="Verdana"/>
              </a:rPr>
              <a:t> </a:t>
            </a:r>
            <a:r>
              <a:rPr sz="3000" spc="-85" dirty="0">
                <a:latin typeface="Verdana"/>
                <a:cs typeface="Verdana"/>
              </a:rPr>
              <a:t>Mature,</a:t>
            </a:r>
            <a:r>
              <a:rPr sz="3000" spc="-280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Declining).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659263" y="9627163"/>
            <a:ext cx="229235" cy="26797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400" spc="-110" dirty="0">
                <a:solidFill>
                  <a:srgbClr val="FFFFFF"/>
                </a:solidFill>
                <a:latin typeface="Arial Black"/>
                <a:cs typeface="Arial Black"/>
              </a:rPr>
              <a:t>07</a:t>
            </a:r>
            <a:endParaRPr sz="1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9300" y="9258300"/>
            <a:ext cx="1028700" cy="1028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18562" y="2756646"/>
            <a:ext cx="11125199" cy="57530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10787" y="463550"/>
            <a:ext cx="746633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95" dirty="0"/>
              <a:t>Market</a:t>
            </a:r>
            <a:r>
              <a:rPr sz="4500" spc="-400" dirty="0"/>
              <a:t> </a:t>
            </a:r>
            <a:r>
              <a:rPr sz="4500" spc="-215" dirty="0"/>
              <a:t>Basket</a:t>
            </a:r>
            <a:r>
              <a:rPr sz="4500" spc="-500" dirty="0"/>
              <a:t> </a:t>
            </a:r>
            <a:r>
              <a:rPr sz="4500" spc="-185" dirty="0"/>
              <a:t>Analysis</a:t>
            </a:r>
            <a:r>
              <a:rPr sz="4500" spc="-480" dirty="0"/>
              <a:t> </a:t>
            </a:r>
            <a:r>
              <a:rPr sz="4500" spc="-770" dirty="0"/>
              <a:t>&amp;</a:t>
            </a:r>
            <a:endParaRPr sz="4500"/>
          </a:p>
        </p:txBody>
      </p:sp>
      <p:sp>
        <p:nvSpPr>
          <p:cNvPr id="5" name="object 5"/>
          <p:cNvSpPr txBox="1"/>
          <p:nvPr/>
        </p:nvSpPr>
        <p:spPr>
          <a:xfrm>
            <a:off x="7218453" y="1263650"/>
            <a:ext cx="385127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140" dirty="0">
                <a:latin typeface="Arial Black"/>
                <a:cs typeface="Arial Black"/>
              </a:rPr>
              <a:t>Associations</a:t>
            </a:r>
            <a:endParaRPr sz="4500">
              <a:latin typeface="Arial Black"/>
              <a:cs typeface="Arial Black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7094" y="5992088"/>
            <a:ext cx="114300" cy="114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7094" y="7744688"/>
            <a:ext cx="114300" cy="11429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6744" y="1832832"/>
            <a:ext cx="6180455" cy="791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4615">
              <a:lnSpc>
                <a:spcPct val="114999"/>
              </a:lnSpc>
              <a:spcBef>
                <a:spcPts val="100"/>
              </a:spcBef>
            </a:pPr>
            <a:r>
              <a:rPr sz="2500" spc="-220" dirty="0">
                <a:latin typeface="Arial Black"/>
                <a:cs typeface="Arial Black"/>
              </a:rPr>
              <a:t>The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Goal: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60" dirty="0">
                <a:latin typeface="Verdana"/>
                <a:cs typeface="Verdana"/>
              </a:rPr>
              <a:t>Automate</a:t>
            </a:r>
            <a:r>
              <a:rPr sz="2500" spc="-225" dirty="0">
                <a:latin typeface="Verdana"/>
                <a:cs typeface="Verdana"/>
              </a:rPr>
              <a:t> </a:t>
            </a:r>
            <a:r>
              <a:rPr sz="2500" spc="-65" dirty="0">
                <a:latin typeface="Verdana"/>
                <a:cs typeface="Verdana"/>
              </a:rPr>
              <a:t>cross-</a:t>
            </a:r>
            <a:r>
              <a:rPr sz="2500" spc="-50" dirty="0">
                <a:latin typeface="Verdana"/>
                <a:cs typeface="Verdana"/>
              </a:rPr>
              <a:t>selling</a:t>
            </a:r>
            <a:r>
              <a:rPr sz="2500" spc="-225" dirty="0">
                <a:latin typeface="Verdana"/>
                <a:cs typeface="Verdana"/>
              </a:rPr>
              <a:t> </a:t>
            </a:r>
            <a:r>
              <a:rPr sz="2500" spc="-25" dirty="0">
                <a:latin typeface="Verdana"/>
                <a:cs typeface="Verdana"/>
              </a:rPr>
              <a:t>by </a:t>
            </a:r>
            <a:r>
              <a:rPr sz="2500" spc="-50" dirty="0">
                <a:latin typeface="Verdana"/>
                <a:cs typeface="Verdana"/>
              </a:rPr>
              <a:t>discovering</a:t>
            </a:r>
            <a:r>
              <a:rPr sz="2500" spc="-220" dirty="0">
                <a:latin typeface="Verdana"/>
                <a:cs typeface="Verdana"/>
              </a:rPr>
              <a:t> </a:t>
            </a:r>
            <a:r>
              <a:rPr sz="2500" spc="-30" dirty="0">
                <a:latin typeface="Verdana"/>
                <a:cs typeface="Verdana"/>
              </a:rPr>
              <a:t>hidden</a:t>
            </a:r>
            <a:r>
              <a:rPr sz="2500" spc="-220" dirty="0">
                <a:latin typeface="Verdana"/>
                <a:cs typeface="Verdana"/>
              </a:rPr>
              <a:t> </a:t>
            </a:r>
            <a:r>
              <a:rPr sz="2500" spc="-55" dirty="0">
                <a:latin typeface="Verdana"/>
                <a:cs typeface="Verdana"/>
              </a:rPr>
              <a:t>purchasing</a:t>
            </a:r>
            <a:r>
              <a:rPr sz="2500" spc="-215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patterns </a:t>
            </a:r>
            <a:r>
              <a:rPr sz="2500" spc="-55" dirty="0">
                <a:latin typeface="Verdana"/>
                <a:cs typeface="Verdana"/>
              </a:rPr>
              <a:t>and</a:t>
            </a:r>
            <a:r>
              <a:rPr sz="2500" spc="-235" dirty="0">
                <a:latin typeface="Verdana"/>
                <a:cs typeface="Verdana"/>
              </a:rPr>
              <a:t> </a:t>
            </a:r>
            <a:r>
              <a:rPr sz="2500" spc="-65" dirty="0">
                <a:latin typeface="Verdana"/>
                <a:cs typeface="Verdana"/>
              </a:rPr>
              <a:t>recommending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-35" dirty="0">
                <a:latin typeface="Verdana"/>
                <a:cs typeface="Verdana"/>
              </a:rPr>
              <a:t>the</a:t>
            </a:r>
            <a:r>
              <a:rPr sz="2500" spc="-235" dirty="0">
                <a:latin typeface="Verdana"/>
                <a:cs typeface="Verdana"/>
              </a:rPr>
              <a:t> </a:t>
            </a:r>
            <a:r>
              <a:rPr sz="2500" spc="-90" dirty="0">
                <a:latin typeface="Verdana"/>
                <a:cs typeface="Verdana"/>
              </a:rPr>
              <a:t>next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logical </a:t>
            </a:r>
            <a:r>
              <a:rPr sz="2500" dirty="0">
                <a:latin typeface="Verdana"/>
                <a:cs typeface="Verdana"/>
              </a:rPr>
              <a:t>product</a:t>
            </a:r>
            <a:r>
              <a:rPr sz="2500" spc="-235" dirty="0">
                <a:latin typeface="Verdana"/>
                <a:cs typeface="Verdana"/>
              </a:rPr>
              <a:t> </a:t>
            </a:r>
            <a:r>
              <a:rPr sz="2500" spc="-20" dirty="0">
                <a:latin typeface="Verdana"/>
                <a:cs typeface="Verdana"/>
              </a:rPr>
              <a:t>addition</a:t>
            </a:r>
            <a:r>
              <a:rPr sz="2500" spc="-235" dirty="0">
                <a:latin typeface="Verdana"/>
                <a:cs typeface="Verdana"/>
              </a:rPr>
              <a:t> </a:t>
            </a:r>
            <a:r>
              <a:rPr sz="2500" dirty="0">
                <a:latin typeface="Verdana"/>
                <a:cs typeface="Verdana"/>
              </a:rPr>
              <a:t>to</a:t>
            </a:r>
            <a:r>
              <a:rPr sz="2500" spc="-235" dirty="0">
                <a:latin typeface="Verdana"/>
                <a:cs typeface="Verdana"/>
              </a:rPr>
              <a:t> </a:t>
            </a:r>
            <a:r>
              <a:rPr sz="2500" spc="-120" dirty="0">
                <a:latin typeface="Verdana"/>
                <a:cs typeface="Verdana"/>
              </a:rPr>
              <a:t>a</a:t>
            </a:r>
            <a:r>
              <a:rPr sz="2500" spc="-235" dirty="0">
                <a:latin typeface="Verdana"/>
                <a:cs typeface="Verdana"/>
              </a:rPr>
              <a:t> </a:t>
            </a:r>
            <a:r>
              <a:rPr sz="2500" spc="-35" dirty="0">
                <a:latin typeface="Verdana"/>
                <a:cs typeface="Verdana"/>
              </a:rPr>
              <a:t>partner's</a:t>
            </a:r>
            <a:r>
              <a:rPr sz="2500" spc="-235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cart.</a:t>
            </a:r>
            <a:endParaRPr sz="2500">
              <a:latin typeface="Verdana"/>
              <a:cs typeface="Verdana"/>
            </a:endParaRPr>
          </a:p>
          <a:p>
            <a:pPr marL="12700" marR="155575">
              <a:lnSpc>
                <a:spcPct val="114999"/>
              </a:lnSpc>
            </a:pPr>
            <a:r>
              <a:rPr sz="2500" spc="-75" dirty="0">
                <a:latin typeface="Verdana"/>
                <a:cs typeface="Verdana"/>
              </a:rPr>
              <a:t>The</a:t>
            </a:r>
            <a:r>
              <a:rPr sz="2500" spc="-235" dirty="0">
                <a:latin typeface="Verdana"/>
                <a:cs typeface="Verdana"/>
              </a:rPr>
              <a:t> </a:t>
            </a:r>
            <a:r>
              <a:rPr sz="2500" spc="-80" dirty="0">
                <a:latin typeface="Verdana"/>
                <a:cs typeface="Verdana"/>
              </a:rPr>
              <a:t>Approach: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-40" dirty="0">
                <a:latin typeface="Verdana"/>
                <a:cs typeface="Verdana"/>
              </a:rPr>
              <a:t>Powered</a:t>
            </a:r>
            <a:r>
              <a:rPr sz="2500" spc="-235" dirty="0">
                <a:latin typeface="Verdana"/>
                <a:cs typeface="Verdana"/>
              </a:rPr>
              <a:t> </a:t>
            </a:r>
            <a:r>
              <a:rPr sz="2500" spc="-35" dirty="0">
                <a:latin typeface="Verdana"/>
                <a:cs typeface="Verdana"/>
              </a:rPr>
              <a:t>by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-25" dirty="0">
                <a:latin typeface="Verdana"/>
                <a:cs typeface="Verdana"/>
              </a:rPr>
              <a:t>the </a:t>
            </a:r>
            <a:r>
              <a:rPr sz="2500" spc="-40" dirty="0">
                <a:latin typeface="Verdana"/>
                <a:cs typeface="Verdana"/>
              </a:rPr>
              <a:t>AssociationsMixin</a:t>
            </a:r>
            <a:r>
              <a:rPr sz="2500" spc="-215" dirty="0">
                <a:latin typeface="Verdana"/>
                <a:cs typeface="Verdana"/>
              </a:rPr>
              <a:t> </a:t>
            </a:r>
            <a:r>
              <a:rPr sz="2500" spc="-55" dirty="0">
                <a:latin typeface="Verdana"/>
                <a:cs typeface="Verdana"/>
              </a:rPr>
              <a:t>and</a:t>
            </a:r>
            <a:r>
              <a:rPr sz="2500" spc="-210" dirty="0">
                <a:latin typeface="Verdana"/>
                <a:cs typeface="Verdana"/>
              </a:rPr>
              <a:t> </a:t>
            </a:r>
            <a:r>
              <a:rPr sz="2500" spc="-60" dirty="0">
                <a:latin typeface="Verdana"/>
                <a:cs typeface="Verdana"/>
              </a:rPr>
              <a:t>visualized</a:t>
            </a:r>
            <a:r>
              <a:rPr sz="2500" spc="-210" dirty="0">
                <a:latin typeface="Verdana"/>
                <a:cs typeface="Verdana"/>
              </a:rPr>
              <a:t> </a:t>
            </a:r>
            <a:r>
              <a:rPr sz="2500" spc="-40" dirty="0">
                <a:latin typeface="Verdana"/>
                <a:cs typeface="Verdana"/>
              </a:rPr>
              <a:t>in</a:t>
            </a:r>
            <a:r>
              <a:rPr sz="2500" spc="-210" dirty="0">
                <a:latin typeface="Verdana"/>
                <a:cs typeface="Verdana"/>
              </a:rPr>
              <a:t> </a:t>
            </a:r>
            <a:r>
              <a:rPr sz="2500" spc="-25" dirty="0">
                <a:latin typeface="Verdana"/>
                <a:cs typeface="Verdana"/>
              </a:rPr>
              <a:t>the </a:t>
            </a:r>
            <a:r>
              <a:rPr sz="2500" spc="-65" dirty="0">
                <a:latin typeface="Verdana"/>
                <a:cs typeface="Verdana"/>
              </a:rPr>
              <a:t>Market</a:t>
            </a:r>
            <a:r>
              <a:rPr sz="2500" spc="-235" dirty="0">
                <a:latin typeface="Verdana"/>
                <a:cs typeface="Verdana"/>
              </a:rPr>
              <a:t> </a:t>
            </a:r>
            <a:r>
              <a:rPr sz="2500" spc="-90" dirty="0">
                <a:latin typeface="Verdana"/>
                <a:cs typeface="Verdana"/>
              </a:rPr>
              <a:t>Basket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-175" dirty="0">
                <a:latin typeface="Verdana"/>
                <a:cs typeface="Verdana"/>
              </a:rPr>
              <a:t>Tab,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-35" dirty="0">
                <a:latin typeface="Verdana"/>
                <a:cs typeface="Verdana"/>
              </a:rPr>
              <a:t>the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-80" dirty="0">
                <a:latin typeface="Verdana"/>
                <a:cs typeface="Verdana"/>
              </a:rPr>
              <a:t>system</a:t>
            </a:r>
            <a:r>
              <a:rPr sz="2500" spc="-235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employs </a:t>
            </a:r>
            <a:r>
              <a:rPr sz="2500" spc="-50" dirty="0">
                <a:latin typeface="Verdana"/>
                <a:cs typeface="Verdana"/>
              </a:rPr>
              <a:t>advanced</a:t>
            </a:r>
            <a:r>
              <a:rPr sz="2500" spc="-220" dirty="0">
                <a:latin typeface="Verdana"/>
                <a:cs typeface="Verdana"/>
              </a:rPr>
              <a:t> </a:t>
            </a:r>
            <a:r>
              <a:rPr sz="2500" spc="-75" dirty="0">
                <a:latin typeface="Verdana"/>
                <a:cs typeface="Verdana"/>
              </a:rPr>
              <a:t>Data</a:t>
            </a:r>
            <a:r>
              <a:rPr sz="2500" spc="-220" dirty="0">
                <a:latin typeface="Verdana"/>
                <a:cs typeface="Verdana"/>
              </a:rPr>
              <a:t> </a:t>
            </a:r>
            <a:r>
              <a:rPr sz="2500" spc="-45" dirty="0">
                <a:latin typeface="Verdana"/>
                <a:cs typeface="Verdana"/>
              </a:rPr>
              <a:t>Mining</a:t>
            </a:r>
            <a:r>
              <a:rPr sz="2500" spc="-220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techniques.</a:t>
            </a:r>
            <a:endParaRPr sz="2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500" spc="-160" dirty="0">
                <a:latin typeface="Arial Black"/>
                <a:cs typeface="Arial Black"/>
              </a:rPr>
              <a:t>Algorithms</a:t>
            </a:r>
            <a:r>
              <a:rPr sz="2500" spc="-180" dirty="0">
                <a:latin typeface="Arial Black"/>
                <a:cs typeface="Arial Black"/>
              </a:rPr>
              <a:t> </a:t>
            </a:r>
            <a:r>
              <a:rPr sz="2500" spc="-20" dirty="0">
                <a:latin typeface="Arial Black"/>
                <a:cs typeface="Arial Black"/>
              </a:rPr>
              <a:t>Used:</a:t>
            </a:r>
            <a:endParaRPr sz="2500">
              <a:latin typeface="Arial Black"/>
              <a:cs typeface="Arial Black"/>
            </a:endParaRPr>
          </a:p>
          <a:p>
            <a:pPr marL="551815" marR="5080">
              <a:lnSpc>
                <a:spcPct val="114999"/>
              </a:lnSpc>
            </a:pPr>
            <a:r>
              <a:rPr sz="2500" spc="-40" dirty="0">
                <a:latin typeface="Verdana"/>
                <a:cs typeface="Verdana"/>
              </a:rPr>
              <a:t>FP-</a:t>
            </a:r>
            <a:r>
              <a:rPr sz="2500" spc="-114" dirty="0">
                <a:latin typeface="Verdana"/>
                <a:cs typeface="Verdana"/>
              </a:rPr>
              <a:t>Growth:</a:t>
            </a:r>
            <a:r>
              <a:rPr sz="2500" spc="-200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Efficiently</a:t>
            </a:r>
            <a:r>
              <a:rPr sz="2500" spc="-200" dirty="0">
                <a:latin typeface="Verdana"/>
                <a:cs typeface="Verdana"/>
              </a:rPr>
              <a:t> </a:t>
            </a:r>
            <a:r>
              <a:rPr sz="2500" spc="-80" dirty="0">
                <a:latin typeface="Verdana"/>
                <a:cs typeface="Verdana"/>
              </a:rPr>
              <a:t>mines</a:t>
            </a:r>
            <a:r>
              <a:rPr sz="2500" spc="-200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large </a:t>
            </a:r>
            <a:r>
              <a:rPr sz="2500" spc="-55" dirty="0">
                <a:latin typeface="Verdana"/>
                <a:cs typeface="Verdana"/>
              </a:rPr>
              <a:t>datasets</a:t>
            </a:r>
            <a:r>
              <a:rPr sz="2500" spc="-225" dirty="0">
                <a:latin typeface="Verdana"/>
                <a:cs typeface="Verdana"/>
              </a:rPr>
              <a:t> </a:t>
            </a:r>
            <a:r>
              <a:rPr sz="2500" dirty="0">
                <a:latin typeface="Verdana"/>
                <a:cs typeface="Verdana"/>
              </a:rPr>
              <a:t>for</a:t>
            </a:r>
            <a:r>
              <a:rPr sz="2500" spc="-220" dirty="0">
                <a:latin typeface="Verdana"/>
                <a:cs typeface="Verdana"/>
              </a:rPr>
              <a:t> </a:t>
            </a:r>
            <a:r>
              <a:rPr sz="2500" spc="-30" dirty="0">
                <a:latin typeface="Verdana"/>
                <a:cs typeface="Verdana"/>
              </a:rPr>
              <a:t>frequent</a:t>
            </a:r>
            <a:r>
              <a:rPr sz="2500" spc="-220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itemsets </a:t>
            </a:r>
            <a:r>
              <a:rPr sz="2500" spc="-30" dirty="0">
                <a:latin typeface="Verdana"/>
                <a:cs typeface="Verdana"/>
              </a:rPr>
              <a:t>without</a:t>
            </a:r>
            <a:r>
              <a:rPr sz="2500" spc="-240" dirty="0">
                <a:latin typeface="Verdana"/>
                <a:cs typeface="Verdana"/>
              </a:rPr>
              <a:t> </a:t>
            </a:r>
            <a:r>
              <a:rPr sz="2500" spc="-35" dirty="0">
                <a:latin typeface="Verdana"/>
                <a:cs typeface="Verdana"/>
              </a:rPr>
              <a:t>the</a:t>
            </a:r>
            <a:r>
              <a:rPr sz="2500" spc="-225" dirty="0">
                <a:latin typeface="Verdana"/>
                <a:cs typeface="Verdana"/>
              </a:rPr>
              <a:t> </a:t>
            </a:r>
            <a:r>
              <a:rPr sz="2500" spc="-30" dirty="0">
                <a:latin typeface="Verdana"/>
                <a:cs typeface="Verdana"/>
              </a:rPr>
              <a:t>computational</a:t>
            </a:r>
            <a:r>
              <a:rPr sz="2500" spc="-225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overhead </a:t>
            </a:r>
            <a:r>
              <a:rPr sz="2500" spc="50" dirty="0">
                <a:latin typeface="Verdana"/>
                <a:cs typeface="Verdana"/>
              </a:rPr>
              <a:t>of</a:t>
            </a:r>
            <a:r>
              <a:rPr sz="2500" spc="-270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Apriori.</a:t>
            </a:r>
            <a:endParaRPr sz="2500">
              <a:latin typeface="Verdana"/>
              <a:cs typeface="Verdana"/>
            </a:endParaRPr>
          </a:p>
          <a:p>
            <a:pPr marL="551815" marR="88265">
              <a:lnSpc>
                <a:spcPct val="114999"/>
              </a:lnSpc>
            </a:pPr>
            <a:r>
              <a:rPr sz="2500" spc="-65" dirty="0">
                <a:latin typeface="Verdana"/>
                <a:cs typeface="Verdana"/>
              </a:rPr>
              <a:t>Temporally</a:t>
            </a:r>
            <a:r>
              <a:rPr sz="2500" spc="-235" dirty="0">
                <a:latin typeface="Verdana"/>
                <a:cs typeface="Verdana"/>
              </a:rPr>
              <a:t> </a:t>
            </a:r>
            <a:r>
              <a:rPr sz="2500" spc="-75" dirty="0">
                <a:latin typeface="Verdana"/>
                <a:cs typeface="Verdana"/>
              </a:rPr>
              <a:t>Weighted</a:t>
            </a:r>
            <a:r>
              <a:rPr sz="2500" spc="-225" dirty="0">
                <a:latin typeface="Verdana"/>
                <a:cs typeface="Verdana"/>
              </a:rPr>
              <a:t> </a:t>
            </a:r>
            <a:r>
              <a:rPr sz="2500" spc="-130" dirty="0">
                <a:latin typeface="Verdana"/>
                <a:cs typeface="Verdana"/>
              </a:rPr>
              <a:t>Rules:</a:t>
            </a:r>
            <a:r>
              <a:rPr sz="2500" spc="-220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Applies </a:t>
            </a:r>
            <a:r>
              <a:rPr sz="2500" spc="-95" dirty="0">
                <a:latin typeface="Verdana"/>
                <a:cs typeface="Verdana"/>
              </a:rPr>
              <a:t>an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-55" dirty="0">
                <a:latin typeface="Verdana"/>
                <a:cs typeface="Verdana"/>
              </a:rPr>
              <a:t>exponential</a:t>
            </a:r>
            <a:r>
              <a:rPr sz="2500" spc="-225" dirty="0">
                <a:latin typeface="Verdana"/>
                <a:cs typeface="Verdana"/>
              </a:rPr>
              <a:t> </a:t>
            </a:r>
            <a:r>
              <a:rPr sz="2500" spc="-40" dirty="0">
                <a:latin typeface="Verdana"/>
                <a:cs typeface="Verdana"/>
              </a:rPr>
              <a:t>decay</a:t>
            </a:r>
            <a:r>
              <a:rPr sz="2500" spc="-225" dirty="0">
                <a:latin typeface="Verdana"/>
                <a:cs typeface="Verdana"/>
              </a:rPr>
              <a:t> </a:t>
            </a:r>
            <a:r>
              <a:rPr sz="2500" dirty="0">
                <a:latin typeface="Verdana"/>
                <a:cs typeface="Verdana"/>
              </a:rPr>
              <a:t>to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older </a:t>
            </a:r>
            <a:r>
              <a:rPr sz="2500" spc="-45" dirty="0">
                <a:latin typeface="Verdana"/>
                <a:cs typeface="Verdana"/>
              </a:rPr>
              <a:t>transactions</a:t>
            </a:r>
            <a:r>
              <a:rPr sz="2500" spc="-220" dirty="0">
                <a:latin typeface="Verdana"/>
                <a:cs typeface="Verdana"/>
              </a:rPr>
              <a:t> </a:t>
            </a:r>
            <a:r>
              <a:rPr sz="2500" spc="-25" dirty="0">
                <a:latin typeface="Verdana"/>
                <a:cs typeface="Verdana"/>
              </a:rPr>
              <a:t>so</a:t>
            </a:r>
            <a:r>
              <a:rPr sz="2500" spc="-220" dirty="0">
                <a:latin typeface="Verdana"/>
                <a:cs typeface="Verdana"/>
              </a:rPr>
              <a:t> </a:t>
            </a:r>
            <a:r>
              <a:rPr sz="2500" spc="-40" dirty="0">
                <a:latin typeface="Verdana"/>
                <a:cs typeface="Verdana"/>
              </a:rPr>
              <a:t>that</a:t>
            </a:r>
            <a:r>
              <a:rPr sz="2500" spc="-220" dirty="0">
                <a:latin typeface="Verdana"/>
                <a:cs typeface="Verdana"/>
              </a:rPr>
              <a:t> </a:t>
            </a:r>
            <a:r>
              <a:rPr sz="2500" spc="-35" dirty="0">
                <a:latin typeface="Verdana"/>
                <a:cs typeface="Verdana"/>
              </a:rPr>
              <a:t>recent</a:t>
            </a:r>
            <a:r>
              <a:rPr sz="2500" spc="-220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market </a:t>
            </a:r>
            <a:r>
              <a:rPr sz="2500" spc="-15" dirty="0">
                <a:latin typeface="Verdana"/>
                <a:cs typeface="Verdana"/>
              </a:rPr>
              <a:t>shifts</a:t>
            </a:r>
            <a:r>
              <a:rPr sz="2500" spc="-250" dirty="0">
                <a:latin typeface="Verdana"/>
                <a:cs typeface="Verdana"/>
              </a:rPr>
              <a:t> </a:t>
            </a:r>
            <a:r>
              <a:rPr sz="2500" spc="-95" dirty="0">
                <a:latin typeface="Verdana"/>
                <a:cs typeface="Verdana"/>
              </a:rPr>
              <a:t>weigh</a:t>
            </a:r>
            <a:r>
              <a:rPr sz="2500" spc="-245" dirty="0">
                <a:latin typeface="Verdana"/>
                <a:cs typeface="Verdana"/>
              </a:rPr>
              <a:t> </a:t>
            </a:r>
            <a:r>
              <a:rPr sz="2500" spc="-70" dirty="0">
                <a:latin typeface="Verdana"/>
                <a:cs typeface="Verdana"/>
              </a:rPr>
              <a:t>more</a:t>
            </a:r>
            <a:r>
              <a:rPr sz="2500" spc="-245" dirty="0">
                <a:latin typeface="Verdana"/>
                <a:cs typeface="Verdana"/>
              </a:rPr>
              <a:t> </a:t>
            </a:r>
            <a:r>
              <a:rPr sz="2500" spc="-60" dirty="0">
                <a:latin typeface="Verdana"/>
                <a:cs typeface="Verdana"/>
              </a:rPr>
              <a:t>heavily</a:t>
            </a:r>
            <a:r>
              <a:rPr sz="2500" spc="-245" dirty="0">
                <a:latin typeface="Verdana"/>
                <a:cs typeface="Verdana"/>
              </a:rPr>
              <a:t> </a:t>
            </a:r>
            <a:r>
              <a:rPr sz="2500" spc="-40" dirty="0">
                <a:latin typeface="Verdana"/>
                <a:cs typeface="Verdana"/>
              </a:rPr>
              <a:t>in</a:t>
            </a:r>
            <a:r>
              <a:rPr sz="2500" spc="-245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product recommendations.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659263" y="9627163"/>
            <a:ext cx="229235" cy="26797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400" spc="-110" dirty="0">
                <a:solidFill>
                  <a:srgbClr val="FFFFFF"/>
                </a:solidFill>
                <a:latin typeface="Arial Black"/>
                <a:cs typeface="Arial Black"/>
              </a:rPr>
              <a:t>07</a:t>
            </a:r>
            <a:endParaRPr sz="1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9300" y="9258300"/>
            <a:ext cx="1028700" cy="1028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82529" y="3048272"/>
            <a:ext cx="10887074" cy="51053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584172" y="463550"/>
            <a:ext cx="724471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75" dirty="0"/>
              <a:t>Smart</a:t>
            </a:r>
            <a:r>
              <a:rPr sz="4500" spc="-409" dirty="0"/>
              <a:t> </a:t>
            </a:r>
            <a:r>
              <a:rPr sz="4500" spc="-85" dirty="0"/>
              <a:t>Inventory</a:t>
            </a:r>
            <a:r>
              <a:rPr sz="4500" spc="-500" dirty="0"/>
              <a:t> </a:t>
            </a:r>
            <a:r>
              <a:rPr sz="4500" spc="-720" dirty="0"/>
              <a:t>&amp;</a:t>
            </a:r>
            <a:r>
              <a:rPr sz="4500" spc="-675" dirty="0"/>
              <a:t> </a:t>
            </a:r>
            <a:r>
              <a:rPr sz="4500" spc="-90" dirty="0"/>
              <a:t>Stock</a:t>
            </a:r>
            <a:endParaRPr sz="4500"/>
          </a:p>
        </p:txBody>
      </p:sp>
      <p:sp>
        <p:nvSpPr>
          <p:cNvPr id="8" name="object 8"/>
          <p:cNvSpPr txBox="1"/>
          <p:nvPr/>
        </p:nvSpPr>
        <p:spPr>
          <a:xfrm>
            <a:off x="17659263" y="9627163"/>
            <a:ext cx="229235" cy="26797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400" spc="-110" dirty="0">
                <a:solidFill>
                  <a:srgbClr val="FFFFFF"/>
                </a:solidFill>
                <a:latin typeface="Arial Black"/>
                <a:cs typeface="Arial Black"/>
              </a:rPr>
              <a:t>07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24729" y="1263650"/>
            <a:ext cx="343852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60" dirty="0">
                <a:latin typeface="Arial Black"/>
                <a:cs typeface="Arial Black"/>
              </a:rPr>
              <a:t>Liquidation</a:t>
            </a:r>
            <a:endParaRPr sz="45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-12700" y="1824424"/>
            <a:ext cx="643064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220" dirty="0">
                <a:latin typeface="Arial Black"/>
                <a:cs typeface="Arial Black"/>
              </a:rPr>
              <a:t>The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Goal: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55" dirty="0">
                <a:latin typeface="Verdana"/>
                <a:cs typeface="Verdana"/>
              </a:rPr>
              <a:t>Minimize</a:t>
            </a:r>
            <a:r>
              <a:rPr sz="2500" spc="-235" dirty="0">
                <a:latin typeface="Verdana"/>
                <a:cs typeface="Verdana"/>
              </a:rPr>
              <a:t> </a:t>
            </a:r>
            <a:r>
              <a:rPr sz="2500" spc="-25" dirty="0">
                <a:latin typeface="Verdana"/>
                <a:cs typeface="Verdana"/>
              </a:rPr>
              <a:t>capital</a:t>
            </a:r>
            <a:r>
              <a:rPr sz="2500" spc="-235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tied</a:t>
            </a:r>
            <a:r>
              <a:rPr sz="2500" spc="-235" dirty="0">
                <a:latin typeface="Verdana"/>
                <a:cs typeface="Verdana"/>
              </a:rPr>
              <a:t> </a:t>
            </a:r>
            <a:r>
              <a:rPr sz="2500" spc="-25" dirty="0">
                <a:latin typeface="Verdana"/>
                <a:cs typeface="Verdana"/>
              </a:rPr>
              <a:t>up</a:t>
            </a:r>
            <a:r>
              <a:rPr sz="2500" spc="-235" dirty="0">
                <a:latin typeface="Verdana"/>
                <a:cs typeface="Verdana"/>
              </a:rPr>
              <a:t> </a:t>
            </a:r>
            <a:r>
              <a:rPr sz="2500" spc="-40" dirty="0">
                <a:latin typeface="Verdana"/>
                <a:cs typeface="Verdana"/>
              </a:rPr>
              <a:t>in</a:t>
            </a:r>
            <a:r>
              <a:rPr sz="2500" spc="-235" dirty="0">
                <a:latin typeface="Verdana"/>
                <a:cs typeface="Verdana"/>
              </a:rPr>
              <a:t> </a:t>
            </a:r>
            <a:r>
              <a:rPr sz="2500" spc="-40" dirty="0">
                <a:latin typeface="Verdana"/>
                <a:cs typeface="Verdana"/>
              </a:rPr>
              <a:t>aging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-12700" y="2205386"/>
            <a:ext cx="6750684" cy="747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1750">
              <a:lnSpc>
                <a:spcPct val="114999"/>
              </a:lnSpc>
              <a:spcBef>
                <a:spcPts val="100"/>
              </a:spcBef>
            </a:pPr>
            <a:r>
              <a:rPr sz="2500" spc="-45" dirty="0">
                <a:latin typeface="Verdana"/>
                <a:cs typeface="Verdana"/>
              </a:rPr>
              <a:t>stock</a:t>
            </a:r>
            <a:r>
              <a:rPr sz="2500" spc="-225" dirty="0">
                <a:latin typeface="Verdana"/>
                <a:cs typeface="Verdana"/>
              </a:rPr>
              <a:t> </a:t>
            </a:r>
            <a:r>
              <a:rPr sz="2500" spc="-35" dirty="0">
                <a:latin typeface="Verdana"/>
                <a:cs typeface="Verdana"/>
              </a:rPr>
              <a:t>by</a:t>
            </a:r>
            <a:r>
              <a:rPr sz="2500" spc="-225" dirty="0">
                <a:latin typeface="Verdana"/>
                <a:cs typeface="Verdana"/>
              </a:rPr>
              <a:t> </a:t>
            </a:r>
            <a:r>
              <a:rPr sz="2500" spc="-40" dirty="0">
                <a:latin typeface="Verdana"/>
                <a:cs typeface="Verdana"/>
              </a:rPr>
              <a:t>intelligently</a:t>
            </a:r>
            <a:r>
              <a:rPr sz="2500" spc="-225" dirty="0">
                <a:latin typeface="Verdana"/>
                <a:cs typeface="Verdana"/>
              </a:rPr>
              <a:t> </a:t>
            </a:r>
            <a:r>
              <a:rPr sz="2500" spc="-65" dirty="0">
                <a:latin typeface="Verdana"/>
                <a:cs typeface="Verdana"/>
              </a:rPr>
              <a:t>pairing</a:t>
            </a:r>
            <a:r>
              <a:rPr sz="2500" spc="-225" dirty="0">
                <a:latin typeface="Verdana"/>
                <a:cs typeface="Verdana"/>
              </a:rPr>
              <a:t> </a:t>
            </a:r>
            <a:r>
              <a:rPr sz="2500" spc="-40" dirty="0">
                <a:latin typeface="Verdana"/>
                <a:cs typeface="Verdana"/>
              </a:rPr>
              <a:t>dead</a:t>
            </a:r>
            <a:r>
              <a:rPr sz="2500" spc="-220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inventory </a:t>
            </a:r>
            <a:r>
              <a:rPr sz="2500" spc="-45" dirty="0">
                <a:latin typeface="Verdana"/>
                <a:cs typeface="Verdana"/>
              </a:rPr>
              <a:t>with</a:t>
            </a:r>
            <a:r>
              <a:rPr sz="2500" spc="-240" dirty="0">
                <a:latin typeface="Verdana"/>
                <a:cs typeface="Verdana"/>
              </a:rPr>
              <a:t> </a:t>
            </a:r>
            <a:r>
              <a:rPr sz="2500" spc="-35" dirty="0">
                <a:latin typeface="Verdana"/>
                <a:cs typeface="Verdana"/>
              </a:rPr>
              <a:t>the</a:t>
            </a:r>
            <a:r>
              <a:rPr sz="2500" spc="-235" dirty="0">
                <a:latin typeface="Verdana"/>
                <a:cs typeface="Verdana"/>
              </a:rPr>
              <a:t> </a:t>
            </a:r>
            <a:r>
              <a:rPr sz="2500" spc="-55" dirty="0">
                <a:latin typeface="Verdana"/>
                <a:cs typeface="Verdana"/>
              </a:rPr>
              <a:t>buyers</a:t>
            </a:r>
            <a:r>
              <a:rPr sz="2500" spc="-235" dirty="0">
                <a:latin typeface="Verdana"/>
                <a:cs typeface="Verdana"/>
              </a:rPr>
              <a:t> </a:t>
            </a:r>
            <a:r>
              <a:rPr sz="2500" spc="-50" dirty="0">
                <a:latin typeface="Verdana"/>
                <a:cs typeface="Verdana"/>
              </a:rPr>
              <a:t>most</a:t>
            </a:r>
            <a:r>
              <a:rPr sz="2500" spc="-235" dirty="0">
                <a:latin typeface="Verdana"/>
                <a:cs typeface="Verdana"/>
              </a:rPr>
              <a:t> </a:t>
            </a:r>
            <a:r>
              <a:rPr sz="2500" spc="-60" dirty="0">
                <a:latin typeface="Verdana"/>
                <a:cs typeface="Verdana"/>
              </a:rPr>
              <a:t>likely</a:t>
            </a:r>
            <a:r>
              <a:rPr sz="2500" spc="-235" dirty="0">
                <a:latin typeface="Verdana"/>
                <a:cs typeface="Verdana"/>
              </a:rPr>
              <a:t> </a:t>
            </a:r>
            <a:r>
              <a:rPr sz="2500" dirty="0">
                <a:latin typeface="Verdana"/>
                <a:cs typeface="Verdana"/>
              </a:rPr>
              <a:t>to</a:t>
            </a:r>
            <a:r>
              <a:rPr sz="2500" spc="-235" dirty="0">
                <a:latin typeface="Verdana"/>
                <a:cs typeface="Verdana"/>
              </a:rPr>
              <a:t> </a:t>
            </a:r>
            <a:r>
              <a:rPr sz="2500" spc="-50" dirty="0">
                <a:latin typeface="Verdana"/>
                <a:cs typeface="Verdana"/>
              </a:rPr>
              <a:t>purchase</a:t>
            </a:r>
            <a:r>
              <a:rPr sz="2500" spc="-235" dirty="0">
                <a:latin typeface="Verdana"/>
                <a:cs typeface="Verdana"/>
              </a:rPr>
              <a:t> </a:t>
            </a:r>
            <a:r>
              <a:rPr sz="2500" spc="-25" dirty="0">
                <a:latin typeface="Verdana"/>
                <a:cs typeface="Verdana"/>
              </a:rPr>
              <a:t>it.</a:t>
            </a:r>
            <a:endParaRPr sz="2500">
              <a:latin typeface="Verdana"/>
              <a:cs typeface="Verdana"/>
            </a:endParaRPr>
          </a:p>
          <a:p>
            <a:pPr marL="12700" marR="494030">
              <a:lnSpc>
                <a:spcPct val="114999"/>
              </a:lnSpc>
            </a:pPr>
            <a:r>
              <a:rPr sz="2500" spc="-75" dirty="0">
                <a:latin typeface="Verdana"/>
                <a:cs typeface="Verdana"/>
              </a:rPr>
              <a:t>The</a:t>
            </a:r>
            <a:r>
              <a:rPr sz="2500" spc="-225" dirty="0">
                <a:latin typeface="Verdana"/>
                <a:cs typeface="Verdana"/>
              </a:rPr>
              <a:t> </a:t>
            </a:r>
            <a:r>
              <a:rPr sz="2500" spc="-80" dirty="0">
                <a:latin typeface="Verdana"/>
                <a:cs typeface="Verdana"/>
              </a:rPr>
              <a:t>Approach:</a:t>
            </a:r>
            <a:r>
              <a:rPr sz="2500" spc="-225" dirty="0">
                <a:latin typeface="Verdana"/>
                <a:cs typeface="Verdana"/>
              </a:rPr>
              <a:t> </a:t>
            </a:r>
            <a:r>
              <a:rPr sz="2500" spc="-75" dirty="0">
                <a:latin typeface="Verdana"/>
                <a:cs typeface="Verdana"/>
              </a:rPr>
              <a:t>The</a:t>
            </a:r>
            <a:r>
              <a:rPr sz="2500" spc="-225" dirty="0">
                <a:latin typeface="Verdana"/>
                <a:cs typeface="Verdana"/>
              </a:rPr>
              <a:t> </a:t>
            </a:r>
            <a:r>
              <a:rPr sz="2500" spc="-80" dirty="0">
                <a:latin typeface="Verdana"/>
                <a:cs typeface="Verdana"/>
              </a:rPr>
              <a:t>Inventory</a:t>
            </a:r>
            <a:r>
              <a:rPr sz="2500" spc="-225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Liquidation </a:t>
            </a:r>
            <a:r>
              <a:rPr sz="2500" spc="-125" dirty="0">
                <a:latin typeface="Verdana"/>
                <a:cs typeface="Verdana"/>
              </a:rPr>
              <a:t>Tab</a:t>
            </a:r>
            <a:r>
              <a:rPr sz="2500" spc="-250" dirty="0">
                <a:latin typeface="Verdana"/>
                <a:cs typeface="Verdana"/>
              </a:rPr>
              <a:t> </a:t>
            </a:r>
            <a:r>
              <a:rPr sz="2500" spc="-45" dirty="0">
                <a:latin typeface="Verdana"/>
                <a:cs typeface="Verdana"/>
              </a:rPr>
              <a:t>turns</a:t>
            </a:r>
            <a:r>
              <a:rPr sz="2500" spc="-245" dirty="0">
                <a:latin typeface="Verdana"/>
                <a:cs typeface="Verdana"/>
              </a:rPr>
              <a:t> </a:t>
            </a:r>
            <a:r>
              <a:rPr sz="2500" spc="-120" dirty="0">
                <a:latin typeface="Verdana"/>
                <a:cs typeface="Verdana"/>
              </a:rPr>
              <a:t>a</a:t>
            </a:r>
            <a:r>
              <a:rPr sz="2500" spc="-245" dirty="0">
                <a:latin typeface="Verdana"/>
                <a:cs typeface="Verdana"/>
              </a:rPr>
              <a:t> </a:t>
            </a:r>
            <a:r>
              <a:rPr sz="2500" spc="-25" dirty="0">
                <a:latin typeface="Verdana"/>
                <a:cs typeface="Verdana"/>
              </a:rPr>
              <a:t>supply</a:t>
            </a:r>
            <a:r>
              <a:rPr sz="2500" spc="-245" dirty="0">
                <a:latin typeface="Verdana"/>
                <a:cs typeface="Verdana"/>
              </a:rPr>
              <a:t> </a:t>
            </a:r>
            <a:r>
              <a:rPr sz="2500" spc="-40" dirty="0">
                <a:latin typeface="Verdana"/>
                <a:cs typeface="Verdana"/>
              </a:rPr>
              <a:t>chain</a:t>
            </a:r>
            <a:r>
              <a:rPr sz="2500" spc="-250" dirty="0">
                <a:latin typeface="Verdana"/>
                <a:cs typeface="Verdana"/>
              </a:rPr>
              <a:t> </a:t>
            </a:r>
            <a:r>
              <a:rPr sz="2500" spc="-30" dirty="0">
                <a:latin typeface="Verdana"/>
                <a:cs typeface="Verdana"/>
              </a:rPr>
              <a:t>problem</a:t>
            </a:r>
            <a:r>
              <a:rPr sz="2500" spc="-245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into</a:t>
            </a:r>
            <a:r>
              <a:rPr sz="2500" spc="-245" dirty="0">
                <a:latin typeface="Verdana"/>
                <a:cs typeface="Verdana"/>
              </a:rPr>
              <a:t> </a:t>
            </a:r>
            <a:r>
              <a:rPr sz="2500" spc="-50" dirty="0">
                <a:latin typeface="Verdana"/>
                <a:cs typeface="Verdana"/>
              </a:rPr>
              <a:t>a </a:t>
            </a:r>
            <a:r>
              <a:rPr sz="2500" spc="-65" dirty="0">
                <a:latin typeface="Verdana"/>
                <a:cs typeface="Verdana"/>
              </a:rPr>
              <a:t>targeted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-65" dirty="0">
                <a:latin typeface="Verdana"/>
                <a:cs typeface="Verdana"/>
              </a:rPr>
              <a:t>sales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campaign.</a:t>
            </a:r>
            <a:endParaRPr sz="2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500" spc="-220" dirty="0">
                <a:latin typeface="Arial Black"/>
                <a:cs typeface="Arial Black"/>
              </a:rPr>
              <a:t>How</a:t>
            </a:r>
            <a:r>
              <a:rPr sz="2500" spc="-229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it</a:t>
            </a:r>
            <a:r>
              <a:rPr sz="2500" spc="-229" dirty="0">
                <a:latin typeface="Arial Black"/>
                <a:cs typeface="Arial Black"/>
              </a:rPr>
              <a:t> </a:t>
            </a:r>
            <a:r>
              <a:rPr sz="2500" spc="-35" dirty="0">
                <a:latin typeface="Arial Black"/>
                <a:cs typeface="Arial Black"/>
              </a:rPr>
              <a:t>Works:</a:t>
            </a:r>
            <a:endParaRPr sz="2500">
              <a:latin typeface="Arial Black"/>
              <a:cs typeface="Arial Black"/>
            </a:endParaRPr>
          </a:p>
          <a:p>
            <a:pPr marL="550545" marR="5080" indent="-330200">
              <a:lnSpc>
                <a:spcPct val="114999"/>
              </a:lnSpc>
              <a:buAutoNum type="arabicPeriod"/>
              <a:tabLst>
                <a:tab pos="551815" algn="l"/>
              </a:tabLst>
            </a:pPr>
            <a:r>
              <a:rPr sz="2500" spc="-70" dirty="0">
                <a:latin typeface="Verdana"/>
                <a:cs typeface="Verdana"/>
              </a:rPr>
              <a:t>Identification:</a:t>
            </a:r>
            <a:r>
              <a:rPr sz="2500" spc="-200" dirty="0">
                <a:latin typeface="Verdana"/>
                <a:cs typeface="Verdana"/>
              </a:rPr>
              <a:t> </a:t>
            </a:r>
            <a:r>
              <a:rPr sz="2500" spc="-75" dirty="0">
                <a:latin typeface="Verdana"/>
                <a:cs typeface="Verdana"/>
              </a:rPr>
              <a:t>The</a:t>
            </a:r>
            <a:r>
              <a:rPr sz="2500" spc="-200" dirty="0">
                <a:latin typeface="Verdana"/>
                <a:cs typeface="Verdana"/>
              </a:rPr>
              <a:t> </a:t>
            </a:r>
            <a:r>
              <a:rPr sz="2500" spc="-65" dirty="0">
                <a:latin typeface="Verdana"/>
                <a:cs typeface="Verdana"/>
              </a:rPr>
              <a:t>view_ageing_stock 	</a:t>
            </a:r>
            <a:r>
              <a:rPr sz="2500" spc="-55" dirty="0">
                <a:latin typeface="Verdana"/>
                <a:cs typeface="Verdana"/>
              </a:rPr>
              <a:t>Postgres</a:t>
            </a:r>
            <a:r>
              <a:rPr sz="2500" spc="-215" dirty="0">
                <a:latin typeface="Verdana"/>
                <a:cs typeface="Verdana"/>
              </a:rPr>
              <a:t> </a:t>
            </a:r>
            <a:r>
              <a:rPr sz="2500" spc="-70" dirty="0">
                <a:latin typeface="Verdana"/>
                <a:cs typeface="Verdana"/>
              </a:rPr>
              <a:t>view</a:t>
            </a:r>
            <a:r>
              <a:rPr sz="2500" spc="-210" dirty="0">
                <a:latin typeface="Verdana"/>
                <a:cs typeface="Verdana"/>
              </a:rPr>
              <a:t> </a:t>
            </a:r>
            <a:r>
              <a:rPr sz="2500" spc="-25" dirty="0">
                <a:latin typeface="Verdana"/>
                <a:cs typeface="Verdana"/>
              </a:rPr>
              <a:t>continuously</a:t>
            </a:r>
            <a:r>
              <a:rPr sz="2500" spc="-210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calculates 	</a:t>
            </a:r>
            <a:r>
              <a:rPr sz="2500" spc="-35" dirty="0">
                <a:latin typeface="Verdana"/>
                <a:cs typeface="Verdana"/>
              </a:rPr>
              <a:t>the</a:t>
            </a:r>
            <a:r>
              <a:rPr sz="2500" spc="-240" dirty="0">
                <a:latin typeface="Verdana"/>
                <a:cs typeface="Verdana"/>
              </a:rPr>
              <a:t> </a:t>
            </a:r>
            <a:r>
              <a:rPr sz="2500" spc="-175" dirty="0">
                <a:latin typeface="Verdana"/>
                <a:cs typeface="Verdana"/>
              </a:rPr>
              <a:t>max</a:t>
            </a:r>
            <a:r>
              <a:rPr sz="2500" spc="-240" dirty="0">
                <a:latin typeface="Verdana"/>
                <a:cs typeface="Verdana"/>
              </a:rPr>
              <a:t> </a:t>
            </a:r>
            <a:r>
              <a:rPr sz="2500" spc="-140" dirty="0">
                <a:latin typeface="Verdana"/>
                <a:cs typeface="Verdana"/>
              </a:rPr>
              <a:t>age</a:t>
            </a:r>
            <a:r>
              <a:rPr sz="2500" spc="-240" dirty="0">
                <a:latin typeface="Verdana"/>
                <a:cs typeface="Verdana"/>
              </a:rPr>
              <a:t> </a:t>
            </a:r>
            <a:r>
              <a:rPr sz="2500" spc="50" dirty="0">
                <a:latin typeface="Verdana"/>
                <a:cs typeface="Verdana"/>
              </a:rPr>
              <a:t>of</a:t>
            </a:r>
            <a:r>
              <a:rPr sz="2500" spc="-240" dirty="0">
                <a:latin typeface="Verdana"/>
                <a:cs typeface="Verdana"/>
              </a:rPr>
              <a:t> </a:t>
            </a:r>
            <a:r>
              <a:rPr sz="2500" spc="-25" dirty="0">
                <a:latin typeface="Verdana"/>
                <a:cs typeface="Verdana"/>
              </a:rPr>
              <a:t>unsold</a:t>
            </a:r>
            <a:r>
              <a:rPr sz="2500" spc="-240" dirty="0">
                <a:latin typeface="Verdana"/>
                <a:cs typeface="Verdana"/>
              </a:rPr>
              <a:t> </a:t>
            </a:r>
            <a:r>
              <a:rPr sz="2500" spc="-70" dirty="0">
                <a:latin typeface="Verdana"/>
                <a:cs typeface="Verdana"/>
              </a:rPr>
              <a:t>batches.</a:t>
            </a:r>
            <a:r>
              <a:rPr sz="2500" spc="-240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Products 	</a:t>
            </a:r>
            <a:r>
              <a:rPr sz="2500" dirty="0">
                <a:latin typeface="Verdana"/>
                <a:cs typeface="Verdana"/>
              </a:rPr>
              <a:t>older</a:t>
            </a:r>
            <a:r>
              <a:rPr sz="2500" spc="-220" dirty="0">
                <a:latin typeface="Verdana"/>
                <a:cs typeface="Verdana"/>
              </a:rPr>
              <a:t> </a:t>
            </a:r>
            <a:r>
              <a:rPr sz="2500" spc="-60" dirty="0">
                <a:latin typeface="Verdana"/>
                <a:cs typeface="Verdana"/>
              </a:rPr>
              <a:t>than</a:t>
            </a:r>
            <a:r>
              <a:rPr sz="2500" spc="-220" dirty="0">
                <a:latin typeface="Verdana"/>
                <a:cs typeface="Verdana"/>
              </a:rPr>
              <a:t> </a:t>
            </a:r>
            <a:r>
              <a:rPr sz="2500" spc="-25" dirty="0">
                <a:latin typeface="Verdana"/>
                <a:cs typeface="Verdana"/>
              </a:rPr>
              <a:t>predefined</a:t>
            </a:r>
            <a:r>
              <a:rPr sz="2500" spc="-220" dirty="0">
                <a:latin typeface="Verdana"/>
                <a:cs typeface="Verdana"/>
              </a:rPr>
              <a:t> </a:t>
            </a:r>
            <a:r>
              <a:rPr sz="2500" spc="-35" dirty="0">
                <a:latin typeface="Verdana"/>
                <a:cs typeface="Verdana"/>
              </a:rPr>
              <a:t>thresholds</a:t>
            </a:r>
            <a:r>
              <a:rPr sz="2500" spc="-220" dirty="0">
                <a:latin typeface="Verdana"/>
                <a:cs typeface="Verdana"/>
              </a:rPr>
              <a:t> </a:t>
            </a:r>
            <a:r>
              <a:rPr sz="2500" spc="-25" dirty="0">
                <a:latin typeface="Verdana"/>
                <a:cs typeface="Verdana"/>
              </a:rPr>
              <a:t>are 	</a:t>
            </a:r>
            <a:r>
              <a:rPr sz="2500" spc="-70" dirty="0">
                <a:latin typeface="Verdana"/>
                <a:cs typeface="Verdana"/>
              </a:rPr>
              <a:t>flagged</a:t>
            </a:r>
            <a:r>
              <a:rPr sz="2500" spc="-245" dirty="0">
                <a:latin typeface="Verdana"/>
                <a:cs typeface="Verdana"/>
              </a:rPr>
              <a:t> </a:t>
            </a:r>
            <a:r>
              <a:rPr sz="2500" spc="-95" dirty="0">
                <a:latin typeface="Verdana"/>
                <a:cs typeface="Verdana"/>
              </a:rPr>
              <a:t>as</a:t>
            </a:r>
            <a:r>
              <a:rPr sz="2500" spc="-245" dirty="0">
                <a:latin typeface="Verdana"/>
                <a:cs typeface="Verdana"/>
              </a:rPr>
              <a:t> </a:t>
            </a:r>
            <a:r>
              <a:rPr sz="2500" spc="-60" dirty="0">
                <a:latin typeface="Verdana"/>
                <a:cs typeface="Verdana"/>
              </a:rPr>
              <a:t>Dead</a:t>
            </a:r>
            <a:r>
              <a:rPr sz="2500" spc="-240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Stock.</a:t>
            </a:r>
            <a:endParaRPr sz="2500">
              <a:latin typeface="Verdana"/>
              <a:cs typeface="Verdana"/>
            </a:endParaRPr>
          </a:p>
          <a:p>
            <a:pPr marL="550545" marR="482600" indent="-330200" algn="just">
              <a:lnSpc>
                <a:spcPct val="114999"/>
              </a:lnSpc>
              <a:buAutoNum type="arabicPeriod"/>
              <a:tabLst>
                <a:tab pos="551815" algn="l"/>
              </a:tabLst>
            </a:pPr>
            <a:r>
              <a:rPr sz="2500" spc="-70" dirty="0">
                <a:latin typeface="Verdana"/>
                <a:cs typeface="Verdana"/>
              </a:rPr>
              <a:t>Lead</a:t>
            </a:r>
            <a:r>
              <a:rPr sz="2500" spc="-130" dirty="0">
                <a:latin typeface="Verdana"/>
                <a:cs typeface="Verdana"/>
              </a:rPr>
              <a:t> </a:t>
            </a:r>
            <a:r>
              <a:rPr sz="2500" spc="-105" dirty="0">
                <a:latin typeface="Verdana"/>
                <a:cs typeface="Verdana"/>
              </a:rPr>
              <a:t>Generation: </a:t>
            </a:r>
            <a:r>
              <a:rPr sz="2500" spc="-135" dirty="0">
                <a:latin typeface="Verdana"/>
                <a:cs typeface="Verdana"/>
              </a:rPr>
              <a:t>The</a:t>
            </a:r>
            <a:r>
              <a:rPr sz="2500" spc="-85" dirty="0">
                <a:latin typeface="Verdana"/>
                <a:cs typeface="Verdana"/>
              </a:rPr>
              <a:t> </a:t>
            </a:r>
            <a:r>
              <a:rPr sz="2500" spc="-100" dirty="0">
                <a:latin typeface="Verdana"/>
                <a:cs typeface="Verdana"/>
              </a:rPr>
              <a:t>system</a:t>
            </a:r>
            <a:r>
              <a:rPr sz="2500" spc="-105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queries 	</a:t>
            </a:r>
            <a:r>
              <a:rPr sz="2500" spc="-65" dirty="0">
                <a:latin typeface="Verdana"/>
                <a:cs typeface="Verdana"/>
              </a:rPr>
              <a:t>past</a:t>
            </a:r>
            <a:r>
              <a:rPr sz="2500" spc="-150" dirty="0">
                <a:latin typeface="Verdana"/>
                <a:cs typeface="Verdana"/>
              </a:rPr>
              <a:t> </a:t>
            </a:r>
            <a:r>
              <a:rPr sz="2500" spc="-45" dirty="0">
                <a:latin typeface="Verdana"/>
                <a:cs typeface="Verdana"/>
              </a:rPr>
              <a:t>transaction</a:t>
            </a:r>
            <a:r>
              <a:rPr sz="2500" spc="-145" dirty="0">
                <a:latin typeface="Verdana"/>
                <a:cs typeface="Verdana"/>
              </a:rPr>
              <a:t> </a:t>
            </a:r>
            <a:r>
              <a:rPr sz="2500" spc="-45" dirty="0">
                <a:latin typeface="Verdana"/>
                <a:cs typeface="Verdana"/>
              </a:rPr>
              <a:t>histories</a:t>
            </a:r>
            <a:r>
              <a:rPr sz="2500" spc="-145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specifically 	</a:t>
            </a:r>
            <a:r>
              <a:rPr sz="2500" dirty="0">
                <a:latin typeface="Verdana"/>
                <a:cs typeface="Verdana"/>
              </a:rPr>
              <a:t>for</a:t>
            </a:r>
            <a:r>
              <a:rPr sz="2500" spc="-220" dirty="0">
                <a:latin typeface="Verdana"/>
                <a:cs typeface="Verdana"/>
              </a:rPr>
              <a:t> </a:t>
            </a:r>
            <a:r>
              <a:rPr sz="2500" spc="-35" dirty="0">
                <a:latin typeface="Verdana"/>
                <a:cs typeface="Verdana"/>
              </a:rPr>
              <a:t>those</a:t>
            </a:r>
            <a:r>
              <a:rPr sz="2500" spc="-215" dirty="0">
                <a:latin typeface="Verdana"/>
                <a:cs typeface="Verdana"/>
              </a:rPr>
              <a:t> </a:t>
            </a:r>
            <a:r>
              <a:rPr sz="2500" spc="-70" dirty="0">
                <a:latin typeface="Verdana"/>
                <a:cs typeface="Verdana"/>
              </a:rPr>
              <a:t>dead-</a:t>
            </a:r>
            <a:r>
              <a:rPr sz="2500" spc="-45" dirty="0">
                <a:latin typeface="Verdana"/>
                <a:cs typeface="Verdana"/>
              </a:rPr>
              <a:t>stock</a:t>
            </a:r>
            <a:r>
              <a:rPr sz="2500" spc="-215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items.</a:t>
            </a:r>
            <a:endParaRPr sz="2500">
              <a:latin typeface="Verdana"/>
              <a:cs typeface="Verdana"/>
            </a:endParaRPr>
          </a:p>
          <a:p>
            <a:pPr marL="550545" marR="41275" indent="-330200">
              <a:lnSpc>
                <a:spcPct val="114999"/>
              </a:lnSpc>
              <a:buAutoNum type="arabicPeriod"/>
              <a:tabLst>
                <a:tab pos="551815" algn="l"/>
              </a:tabLst>
            </a:pPr>
            <a:r>
              <a:rPr sz="2500" spc="-155" dirty="0">
                <a:latin typeface="Verdana"/>
                <a:cs typeface="Verdana"/>
              </a:rPr>
              <a:t>Targeting:</a:t>
            </a:r>
            <a:r>
              <a:rPr sz="2500" spc="-225" dirty="0">
                <a:latin typeface="Verdana"/>
                <a:cs typeface="Verdana"/>
              </a:rPr>
              <a:t> </a:t>
            </a:r>
            <a:r>
              <a:rPr sz="2500" spc="-145" dirty="0">
                <a:latin typeface="Verdana"/>
                <a:cs typeface="Verdana"/>
              </a:rPr>
              <a:t>It</a:t>
            </a:r>
            <a:r>
              <a:rPr sz="2500" spc="-220" dirty="0">
                <a:latin typeface="Verdana"/>
                <a:cs typeface="Verdana"/>
              </a:rPr>
              <a:t> </a:t>
            </a:r>
            <a:r>
              <a:rPr sz="2500" spc="-114" dirty="0">
                <a:latin typeface="Verdana"/>
                <a:cs typeface="Verdana"/>
              </a:rPr>
              <a:t>ranks</a:t>
            </a:r>
            <a:r>
              <a:rPr sz="2500" spc="-220" dirty="0">
                <a:latin typeface="Verdana"/>
                <a:cs typeface="Verdana"/>
              </a:rPr>
              <a:t> </a:t>
            </a:r>
            <a:r>
              <a:rPr sz="2500" spc="-110" dirty="0">
                <a:latin typeface="Verdana"/>
                <a:cs typeface="Verdana"/>
              </a:rPr>
              <a:t>"Target</a:t>
            </a:r>
            <a:r>
              <a:rPr sz="2500" spc="-220" dirty="0">
                <a:latin typeface="Verdana"/>
                <a:cs typeface="Verdana"/>
              </a:rPr>
              <a:t> </a:t>
            </a:r>
            <a:r>
              <a:rPr sz="2500" spc="-70" dirty="0">
                <a:latin typeface="Verdana"/>
                <a:cs typeface="Verdana"/>
              </a:rPr>
              <a:t>Buyers"</a:t>
            </a:r>
            <a:r>
              <a:rPr sz="2500" spc="-225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based 	</a:t>
            </a:r>
            <a:r>
              <a:rPr sz="2500" spc="-20" dirty="0">
                <a:latin typeface="Verdana"/>
                <a:cs typeface="Verdana"/>
              </a:rPr>
              <a:t>on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-35" dirty="0">
                <a:latin typeface="Verdana"/>
                <a:cs typeface="Verdana"/>
              </a:rPr>
              <a:t>their</a:t>
            </a:r>
            <a:r>
              <a:rPr sz="2500" spc="-225" dirty="0">
                <a:latin typeface="Verdana"/>
                <a:cs typeface="Verdana"/>
              </a:rPr>
              <a:t> </a:t>
            </a:r>
            <a:r>
              <a:rPr sz="2500" spc="-25" dirty="0">
                <a:latin typeface="Verdana"/>
                <a:cs typeface="Verdana"/>
              </a:rPr>
              <a:t>historical</a:t>
            </a:r>
            <a:r>
              <a:rPr sz="2500" spc="-225" dirty="0">
                <a:latin typeface="Verdana"/>
                <a:cs typeface="Verdana"/>
              </a:rPr>
              <a:t> </a:t>
            </a:r>
            <a:r>
              <a:rPr sz="2500" spc="-50" dirty="0">
                <a:latin typeface="Verdana"/>
                <a:cs typeface="Verdana"/>
              </a:rPr>
              <a:t>purchase</a:t>
            </a:r>
            <a:r>
              <a:rPr sz="2500" spc="-225" dirty="0">
                <a:latin typeface="Verdana"/>
                <a:cs typeface="Verdana"/>
              </a:rPr>
              <a:t> </a:t>
            </a:r>
            <a:r>
              <a:rPr sz="2500" spc="-60" dirty="0">
                <a:latin typeface="Verdana"/>
                <a:cs typeface="Verdana"/>
              </a:rPr>
              <a:t>volumes</a:t>
            </a:r>
            <a:r>
              <a:rPr sz="2500" spc="-225" dirty="0">
                <a:latin typeface="Verdana"/>
                <a:cs typeface="Verdana"/>
              </a:rPr>
              <a:t> </a:t>
            </a:r>
            <a:r>
              <a:rPr sz="2500" spc="25" dirty="0">
                <a:latin typeface="Verdana"/>
                <a:cs typeface="Verdana"/>
              </a:rPr>
              <a:t>of 	</a:t>
            </a:r>
            <a:r>
              <a:rPr sz="2500" spc="-40" dirty="0">
                <a:latin typeface="Verdana"/>
                <a:cs typeface="Verdana"/>
              </a:rPr>
              <a:t>that</a:t>
            </a:r>
            <a:r>
              <a:rPr sz="2500" spc="-245" dirty="0">
                <a:latin typeface="Verdana"/>
                <a:cs typeface="Verdana"/>
              </a:rPr>
              <a:t> </a:t>
            </a:r>
            <a:r>
              <a:rPr sz="2500" spc="-75" dirty="0">
                <a:latin typeface="Verdana"/>
                <a:cs typeface="Verdana"/>
              </a:rPr>
              <a:t>exact</a:t>
            </a:r>
            <a:r>
              <a:rPr sz="2500" spc="-245" dirty="0">
                <a:latin typeface="Verdana"/>
                <a:cs typeface="Verdana"/>
              </a:rPr>
              <a:t> </a:t>
            </a:r>
            <a:r>
              <a:rPr sz="2500" spc="-20" dirty="0">
                <a:latin typeface="Verdana"/>
                <a:cs typeface="Verdana"/>
              </a:rPr>
              <a:t>item.</a:t>
            </a:r>
            <a:endParaRPr sz="2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9300" y="9258300"/>
            <a:ext cx="1028700" cy="10287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77818" y="1375158"/>
            <a:ext cx="10274300" cy="8912225"/>
            <a:chOff x="7777818" y="1375158"/>
            <a:chExt cx="10274300" cy="89122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77818" y="5376805"/>
              <a:ext cx="4257674" cy="491019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27385" y="1375158"/>
              <a:ext cx="6524624" cy="40004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175043" y="349250"/>
            <a:ext cx="7938134" cy="1625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2190" marR="5080" indent="-2270125">
              <a:lnSpc>
                <a:spcPct val="116700"/>
              </a:lnSpc>
              <a:spcBef>
                <a:spcPts val="95"/>
              </a:spcBef>
            </a:pPr>
            <a:r>
              <a:rPr sz="4500" spc="-265" dirty="0"/>
              <a:t>AI</a:t>
            </a:r>
            <a:r>
              <a:rPr sz="4500" spc="-505" dirty="0"/>
              <a:t> </a:t>
            </a:r>
            <a:r>
              <a:rPr sz="4500" dirty="0"/>
              <a:t>Chatbot</a:t>
            </a:r>
            <a:r>
              <a:rPr sz="4500" spc="-380" dirty="0"/>
              <a:t> </a:t>
            </a:r>
            <a:r>
              <a:rPr sz="4500" spc="-720" dirty="0"/>
              <a:t>&amp;</a:t>
            </a:r>
            <a:r>
              <a:rPr sz="4500" spc="-700" dirty="0"/>
              <a:t> </a:t>
            </a:r>
            <a:r>
              <a:rPr sz="4500" spc="-105" dirty="0"/>
              <a:t>Generative</a:t>
            </a:r>
            <a:r>
              <a:rPr sz="4500" spc="-585" dirty="0"/>
              <a:t> </a:t>
            </a:r>
            <a:r>
              <a:rPr sz="4500" spc="-290" dirty="0"/>
              <a:t>AI </a:t>
            </a:r>
            <a:r>
              <a:rPr sz="4500" spc="-10" dirty="0"/>
              <a:t>Integration</a:t>
            </a:r>
            <a:endParaRPr sz="4500"/>
          </a:p>
        </p:txBody>
      </p:sp>
      <p:sp>
        <p:nvSpPr>
          <p:cNvPr id="8" name="object 8"/>
          <p:cNvSpPr txBox="1"/>
          <p:nvPr/>
        </p:nvSpPr>
        <p:spPr>
          <a:xfrm>
            <a:off x="17659263" y="9627163"/>
            <a:ext cx="229235" cy="26797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400" spc="-110" dirty="0">
                <a:solidFill>
                  <a:srgbClr val="FFFFFF"/>
                </a:solidFill>
                <a:latin typeface="Arial Black"/>
                <a:cs typeface="Arial Black"/>
              </a:rPr>
              <a:t>07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6000" y="1932332"/>
            <a:ext cx="6600190" cy="7626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6550">
              <a:lnSpc>
                <a:spcPct val="114100"/>
              </a:lnSpc>
              <a:spcBef>
                <a:spcPts val="100"/>
              </a:spcBef>
            </a:pPr>
            <a:r>
              <a:rPr sz="2300" spc="-215" dirty="0">
                <a:latin typeface="Arial Black"/>
                <a:cs typeface="Arial Black"/>
              </a:rPr>
              <a:t>The</a:t>
            </a:r>
            <a:r>
              <a:rPr sz="2300" spc="-195" dirty="0">
                <a:latin typeface="Arial Black"/>
                <a:cs typeface="Arial Black"/>
              </a:rPr>
              <a:t> </a:t>
            </a:r>
            <a:r>
              <a:rPr sz="2300" spc="-160" dirty="0">
                <a:latin typeface="Arial Black"/>
                <a:cs typeface="Arial Black"/>
              </a:rPr>
              <a:t>Goal: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25" dirty="0">
                <a:latin typeface="Verdana"/>
                <a:cs typeface="Verdana"/>
              </a:rPr>
              <a:t>Provide</a:t>
            </a:r>
            <a:r>
              <a:rPr sz="2300" spc="-220" dirty="0">
                <a:latin typeface="Verdana"/>
                <a:cs typeface="Verdana"/>
              </a:rPr>
              <a:t> </a:t>
            </a:r>
            <a:r>
              <a:rPr sz="2300" spc="-65" dirty="0">
                <a:latin typeface="Verdana"/>
                <a:cs typeface="Verdana"/>
              </a:rPr>
              <a:t>users</a:t>
            </a:r>
            <a:r>
              <a:rPr sz="2300" spc="-215" dirty="0">
                <a:latin typeface="Verdana"/>
                <a:cs typeface="Verdana"/>
              </a:rPr>
              <a:t> </a:t>
            </a:r>
            <a:r>
              <a:rPr sz="2300" spc="-40" dirty="0">
                <a:latin typeface="Verdana"/>
                <a:cs typeface="Verdana"/>
              </a:rPr>
              <a:t>with</a:t>
            </a:r>
            <a:r>
              <a:rPr sz="2300" spc="-215" dirty="0">
                <a:latin typeface="Verdana"/>
                <a:cs typeface="Verdana"/>
              </a:rPr>
              <a:t> </a:t>
            </a:r>
            <a:r>
              <a:rPr sz="2300" spc="-80" dirty="0">
                <a:latin typeface="Verdana"/>
                <a:cs typeface="Verdana"/>
              </a:rPr>
              <a:t>an</a:t>
            </a:r>
            <a:r>
              <a:rPr sz="2300" spc="-215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interactive, </a:t>
            </a:r>
            <a:r>
              <a:rPr sz="2300" spc="-75" dirty="0">
                <a:latin typeface="Verdana"/>
                <a:cs typeface="Verdana"/>
              </a:rPr>
              <a:t>natural-</a:t>
            </a:r>
            <a:r>
              <a:rPr sz="2300" spc="-95" dirty="0">
                <a:latin typeface="Verdana"/>
                <a:cs typeface="Verdana"/>
              </a:rPr>
              <a:t>language</a:t>
            </a:r>
            <a:r>
              <a:rPr sz="2300" spc="-195" dirty="0">
                <a:latin typeface="Verdana"/>
                <a:cs typeface="Verdana"/>
              </a:rPr>
              <a:t> </a:t>
            </a:r>
            <a:r>
              <a:rPr sz="2300" spc="-30" dirty="0">
                <a:latin typeface="Verdana"/>
                <a:cs typeface="Verdana"/>
              </a:rPr>
              <a:t>interface</a:t>
            </a:r>
            <a:r>
              <a:rPr sz="2300" spc="-19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to</a:t>
            </a:r>
            <a:r>
              <a:rPr sz="2300" spc="-190" dirty="0">
                <a:latin typeface="Verdana"/>
                <a:cs typeface="Verdana"/>
              </a:rPr>
              <a:t> </a:t>
            </a:r>
            <a:r>
              <a:rPr sz="2300" spc="-45" dirty="0">
                <a:latin typeface="Verdana"/>
                <a:cs typeface="Verdana"/>
              </a:rPr>
              <a:t>query</a:t>
            </a:r>
            <a:r>
              <a:rPr sz="2300" spc="-190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complex </a:t>
            </a:r>
            <a:r>
              <a:rPr sz="2300" spc="-60" dirty="0">
                <a:latin typeface="Verdana"/>
                <a:cs typeface="Verdana"/>
              </a:rPr>
              <a:t>sales</a:t>
            </a:r>
            <a:r>
              <a:rPr sz="2300" spc="-190" dirty="0">
                <a:latin typeface="Verdana"/>
                <a:cs typeface="Verdana"/>
              </a:rPr>
              <a:t> </a:t>
            </a:r>
            <a:r>
              <a:rPr sz="2300" spc="-35" dirty="0">
                <a:latin typeface="Verdana"/>
                <a:cs typeface="Verdana"/>
              </a:rPr>
              <a:t>intelligence</a:t>
            </a:r>
            <a:r>
              <a:rPr sz="2300" spc="-190" dirty="0">
                <a:latin typeface="Verdana"/>
                <a:cs typeface="Verdana"/>
              </a:rPr>
              <a:t> </a:t>
            </a:r>
            <a:r>
              <a:rPr sz="2300" spc="-55" dirty="0">
                <a:latin typeface="Verdana"/>
                <a:cs typeface="Verdana"/>
              </a:rPr>
              <a:t>data</a:t>
            </a:r>
            <a:r>
              <a:rPr sz="2300" spc="-190" dirty="0">
                <a:latin typeface="Verdana"/>
                <a:cs typeface="Verdana"/>
              </a:rPr>
              <a:t> </a:t>
            </a:r>
            <a:r>
              <a:rPr sz="2300" spc="-30" dirty="0">
                <a:latin typeface="Verdana"/>
                <a:cs typeface="Verdana"/>
              </a:rPr>
              <a:t>without</a:t>
            </a:r>
            <a:r>
              <a:rPr sz="2300" spc="-190" dirty="0">
                <a:latin typeface="Verdana"/>
                <a:cs typeface="Verdana"/>
              </a:rPr>
              <a:t> </a:t>
            </a:r>
            <a:r>
              <a:rPr sz="2300" spc="-60" dirty="0">
                <a:latin typeface="Verdana"/>
                <a:cs typeface="Verdana"/>
              </a:rPr>
              <a:t>needing</a:t>
            </a:r>
            <a:r>
              <a:rPr sz="2300" spc="-190" dirty="0">
                <a:latin typeface="Verdana"/>
                <a:cs typeface="Verdana"/>
              </a:rPr>
              <a:t> </a:t>
            </a:r>
            <a:r>
              <a:rPr sz="2300" spc="-25" dirty="0">
                <a:latin typeface="Verdana"/>
                <a:cs typeface="Verdana"/>
              </a:rPr>
              <a:t>to </a:t>
            </a:r>
            <a:r>
              <a:rPr sz="2300" spc="-85" dirty="0">
                <a:latin typeface="Verdana"/>
                <a:cs typeface="Verdana"/>
              </a:rPr>
              <a:t>navigate</a:t>
            </a:r>
            <a:r>
              <a:rPr sz="2300" spc="-195" dirty="0">
                <a:latin typeface="Verdana"/>
                <a:cs typeface="Verdana"/>
              </a:rPr>
              <a:t> </a:t>
            </a:r>
            <a:r>
              <a:rPr sz="2300" spc="-45" dirty="0">
                <a:latin typeface="Verdana"/>
                <a:cs typeface="Verdana"/>
              </a:rPr>
              <a:t>dashboards</a:t>
            </a:r>
            <a:r>
              <a:rPr sz="2300" spc="-190" dirty="0">
                <a:latin typeface="Verdana"/>
                <a:cs typeface="Verdana"/>
              </a:rPr>
              <a:t> </a:t>
            </a:r>
            <a:r>
              <a:rPr sz="2300" spc="-25" dirty="0">
                <a:latin typeface="Verdana"/>
                <a:cs typeface="Verdana"/>
              </a:rPr>
              <a:t>or</a:t>
            </a:r>
            <a:r>
              <a:rPr sz="2300" spc="-190" dirty="0">
                <a:latin typeface="Verdana"/>
                <a:cs typeface="Verdana"/>
              </a:rPr>
              <a:t> </a:t>
            </a:r>
            <a:r>
              <a:rPr sz="2300" spc="-40" dirty="0">
                <a:latin typeface="Verdana"/>
                <a:cs typeface="Verdana"/>
              </a:rPr>
              <a:t>understand</a:t>
            </a:r>
            <a:r>
              <a:rPr sz="2300" spc="-195" dirty="0">
                <a:latin typeface="Verdana"/>
                <a:cs typeface="Verdana"/>
              </a:rPr>
              <a:t> </a:t>
            </a:r>
            <a:r>
              <a:rPr sz="2300" spc="-20" dirty="0">
                <a:latin typeface="Verdana"/>
                <a:cs typeface="Verdana"/>
              </a:rPr>
              <a:t>SQL.</a:t>
            </a:r>
            <a:endParaRPr sz="2300">
              <a:latin typeface="Verdana"/>
              <a:cs typeface="Verdana"/>
            </a:endParaRPr>
          </a:p>
          <a:p>
            <a:pPr marL="508634" marR="5080" indent="-305435">
              <a:lnSpc>
                <a:spcPct val="114100"/>
              </a:lnSpc>
              <a:buFont typeface="Verdana"/>
              <a:buAutoNum type="arabicPeriod"/>
              <a:tabLst>
                <a:tab pos="508634" algn="l"/>
              </a:tabLst>
            </a:pPr>
            <a:r>
              <a:rPr sz="2300" spc="-155" dirty="0">
                <a:latin typeface="Arial Black"/>
                <a:cs typeface="Arial Black"/>
              </a:rPr>
              <a:t>Universal</a:t>
            </a:r>
            <a:r>
              <a:rPr sz="2300" spc="-170" dirty="0">
                <a:latin typeface="Arial Black"/>
                <a:cs typeface="Arial Black"/>
              </a:rPr>
              <a:t> Context</a:t>
            </a:r>
            <a:r>
              <a:rPr sz="2300" spc="-165" dirty="0">
                <a:latin typeface="Arial Black"/>
                <a:cs typeface="Arial Black"/>
              </a:rPr>
              <a:t> </a:t>
            </a:r>
            <a:r>
              <a:rPr sz="2300" spc="-229" dirty="0">
                <a:latin typeface="Arial Black"/>
                <a:cs typeface="Arial Black"/>
              </a:rPr>
              <a:t>Awareness</a:t>
            </a:r>
            <a:r>
              <a:rPr sz="2300" spc="-165" dirty="0">
                <a:latin typeface="Arial Black"/>
                <a:cs typeface="Arial Black"/>
              </a:rPr>
              <a:t> </a:t>
            </a:r>
            <a:r>
              <a:rPr sz="2300" spc="-180" dirty="0">
                <a:latin typeface="Arial Black"/>
                <a:cs typeface="Arial Black"/>
              </a:rPr>
              <a:t>(RAG):</a:t>
            </a:r>
            <a:r>
              <a:rPr sz="2300" spc="-145" dirty="0">
                <a:latin typeface="Arial Black"/>
                <a:cs typeface="Arial Black"/>
              </a:rPr>
              <a:t> </a:t>
            </a:r>
            <a:r>
              <a:rPr sz="2300" spc="-25" dirty="0">
                <a:latin typeface="Verdana"/>
                <a:cs typeface="Verdana"/>
              </a:rPr>
              <a:t>The </a:t>
            </a:r>
            <a:r>
              <a:rPr sz="2300" spc="-20" dirty="0">
                <a:latin typeface="Verdana"/>
                <a:cs typeface="Verdana"/>
              </a:rPr>
              <a:t>Chatbot</a:t>
            </a:r>
            <a:r>
              <a:rPr sz="2300" spc="-210" dirty="0">
                <a:latin typeface="Verdana"/>
                <a:cs typeface="Verdana"/>
              </a:rPr>
              <a:t> </a:t>
            </a:r>
            <a:r>
              <a:rPr sz="2300" spc="-85" dirty="0">
                <a:latin typeface="Verdana"/>
                <a:cs typeface="Verdana"/>
              </a:rPr>
              <a:t>pre-</a:t>
            </a:r>
            <a:r>
              <a:rPr sz="2300" spc="-30" dirty="0">
                <a:latin typeface="Verdana"/>
                <a:cs typeface="Verdana"/>
              </a:rPr>
              <a:t>loads</a:t>
            </a:r>
            <a:r>
              <a:rPr sz="2300" spc="-210" dirty="0">
                <a:latin typeface="Verdana"/>
                <a:cs typeface="Verdana"/>
              </a:rPr>
              <a:t> </a:t>
            </a:r>
            <a:r>
              <a:rPr sz="2300" spc="-40" dirty="0">
                <a:latin typeface="Verdana"/>
                <a:cs typeface="Verdana"/>
              </a:rPr>
              <a:t>context</a:t>
            </a:r>
            <a:r>
              <a:rPr sz="2300" spc="-204" dirty="0">
                <a:latin typeface="Verdana"/>
                <a:cs typeface="Verdana"/>
              </a:rPr>
              <a:t> </a:t>
            </a:r>
            <a:r>
              <a:rPr sz="2300" spc="-40" dirty="0">
                <a:latin typeface="Verdana"/>
                <a:cs typeface="Verdana"/>
              </a:rPr>
              <a:t>from</a:t>
            </a:r>
            <a:r>
              <a:rPr sz="2300" spc="-210" dirty="0">
                <a:latin typeface="Verdana"/>
                <a:cs typeface="Verdana"/>
              </a:rPr>
              <a:t> </a:t>
            </a:r>
            <a:r>
              <a:rPr sz="2300" spc="-20" dirty="0">
                <a:latin typeface="Verdana"/>
                <a:cs typeface="Verdana"/>
              </a:rPr>
              <a:t>all</a:t>
            </a:r>
            <a:r>
              <a:rPr sz="2300" spc="-210" dirty="0">
                <a:latin typeface="Verdana"/>
                <a:cs typeface="Verdana"/>
              </a:rPr>
              <a:t> </a:t>
            </a:r>
            <a:r>
              <a:rPr sz="2300" spc="-95" dirty="0">
                <a:latin typeface="Verdana"/>
                <a:cs typeface="Verdana"/>
              </a:rPr>
              <a:t>8</a:t>
            </a:r>
            <a:r>
              <a:rPr sz="2300" spc="-204" dirty="0">
                <a:latin typeface="Verdana"/>
                <a:cs typeface="Verdana"/>
              </a:rPr>
              <a:t> </a:t>
            </a:r>
            <a:r>
              <a:rPr sz="2300" spc="50" dirty="0">
                <a:latin typeface="Verdana"/>
                <a:cs typeface="Verdana"/>
              </a:rPr>
              <a:t>ML </a:t>
            </a:r>
            <a:r>
              <a:rPr sz="2300" spc="-40" dirty="0">
                <a:latin typeface="Verdana"/>
                <a:cs typeface="Verdana"/>
              </a:rPr>
              <a:t>modules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-110" dirty="0">
                <a:latin typeface="Verdana"/>
                <a:cs typeface="Verdana"/>
              </a:rPr>
              <a:t>(Churn,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Clustering, </a:t>
            </a:r>
            <a:r>
              <a:rPr sz="2300" spc="-65" dirty="0">
                <a:latin typeface="Verdana"/>
                <a:cs typeface="Verdana"/>
              </a:rPr>
              <a:t>Recommendations,</a:t>
            </a:r>
            <a:r>
              <a:rPr sz="2300" spc="-180" dirty="0">
                <a:latin typeface="Verdana"/>
                <a:cs typeface="Verdana"/>
              </a:rPr>
              <a:t> </a:t>
            </a:r>
            <a:r>
              <a:rPr sz="2300" spc="-110" dirty="0">
                <a:latin typeface="Verdana"/>
                <a:cs typeface="Verdana"/>
              </a:rPr>
              <a:t>Inventory,</a:t>
            </a:r>
            <a:r>
              <a:rPr sz="2300" spc="-175" dirty="0">
                <a:latin typeface="Verdana"/>
                <a:cs typeface="Verdana"/>
              </a:rPr>
              <a:t> </a:t>
            </a:r>
            <a:r>
              <a:rPr sz="2300" spc="-135" dirty="0">
                <a:latin typeface="Verdana"/>
                <a:cs typeface="Verdana"/>
              </a:rPr>
              <a:t>etc.).</a:t>
            </a:r>
            <a:r>
              <a:rPr sz="2300" spc="-175" dirty="0">
                <a:latin typeface="Verdana"/>
                <a:cs typeface="Verdana"/>
              </a:rPr>
              <a:t> </a:t>
            </a:r>
            <a:r>
              <a:rPr sz="2300" spc="-75" dirty="0">
                <a:latin typeface="Verdana"/>
                <a:cs typeface="Verdana"/>
              </a:rPr>
              <a:t>When</a:t>
            </a:r>
            <a:r>
              <a:rPr sz="2300" spc="-175" dirty="0">
                <a:latin typeface="Verdana"/>
                <a:cs typeface="Verdana"/>
              </a:rPr>
              <a:t> </a:t>
            </a:r>
            <a:r>
              <a:rPr sz="2300" spc="-50" dirty="0">
                <a:latin typeface="Verdana"/>
                <a:cs typeface="Verdana"/>
              </a:rPr>
              <a:t>a </a:t>
            </a:r>
            <a:r>
              <a:rPr sz="2300" spc="-60" dirty="0">
                <a:latin typeface="Verdana"/>
                <a:cs typeface="Verdana"/>
              </a:rPr>
              <a:t>user</a:t>
            </a:r>
            <a:r>
              <a:rPr sz="2300" spc="-215" dirty="0">
                <a:latin typeface="Verdana"/>
                <a:cs typeface="Verdana"/>
              </a:rPr>
              <a:t> </a:t>
            </a:r>
            <a:r>
              <a:rPr sz="2300" spc="-125" dirty="0">
                <a:latin typeface="Verdana"/>
                <a:cs typeface="Verdana"/>
              </a:rPr>
              <a:t>asks</a:t>
            </a:r>
            <a:r>
              <a:rPr sz="2300" spc="-210" dirty="0">
                <a:latin typeface="Verdana"/>
                <a:cs typeface="Verdana"/>
              </a:rPr>
              <a:t> </a:t>
            </a:r>
            <a:r>
              <a:rPr sz="2300" spc="-120" dirty="0">
                <a:latin typeface="Verdana"/>
                <a:cs typeface="Verdana"/>
              </a:rPr>
              <a:t>a</a:t>
            </a:r>
            <a:r>
              <a:rPr sz="2300" spc="-210" dirty="0">
                <a:latin typeface="Verdana"/>
                <a:cs typeface="Verdana"/>
              </a:rPr>
              <a:t> </a:t>
            </a:r>
            <a:r>
              <a:rPr sz="2300" spc="-30" dirty="0">
                <a:latin typeface="Verdana"/>
                <a:cs typeface="Verdana"/>
              </a:rPr>
              <a:t>question</a:t>
            </a:r>
            <a:r>
              <a:rPr sz="2300" spc="-215" dirty="0">
                <a:latin typeface="Verdana"/>
                <a:cs typeface="Verdana"/>
              </a:rPr>
              <a:t> </a:t>
            </a:r>
            <a:r>
              <a:rPr sz="2300" spc="-75" dirty="0">
                <a:latin typeface="Verdana"/>
                <a:cs typeface="Verdana"/>
              </a:rPr>
              <a:t>like</a:t>
            </a:r>
            <a:r>
              <a:rPr sz="2300" spc="-210" dirty="0">
                <a:latin typeface="Verdana"/>
                <a:cs typeface="Verdana"/>
              </a:rPr>
              <a:t> </a:t>
            </a:r>
            <a:r>
              <a:rPr sz="2300" spc="-35" dirty="0">
                <a:latin typeface="Verdana"/>
                <a:cs typeface="Verdana"/>
              </a:rPr>
              <a:t>"Which</a:t>
            </a:r>
            <a:r>
              <a:rPr sz="2300" spc="-210" dirty="0">
                <a:latin typeface="Verdana"/>
                <a:cs typeface="Verdana"/>
              </a:rPr>
              <a:t> </a:t>
            </a:r>
            <a:r>
              <a:rPr sz="2300" spc="-45" dirty="0">
                <a:latin typeface="Verdana"/>
                <a:cs typeface="Verdana"/>
              </a:rPr>
              <a:t>partners</a:t>
            </a:r>
            <a:r>
              <a:rPr sz="2300" spc="-215" dirty="0">
                <a:latin typeface="Verdana"/>
                <a:cs typeface="Verdana"/>
              </a:rPr>
              <a:t> </a:t>
            </a:r>
            <a:r>
              <a:rPr sz="2300" spc="-25" dirty="0">
                <a:latin typeface="Verdana"/>
                <a:cs typeface="Verdana"/>
              </a:rPr>
              <a:t>in </a:t>
            </a:r>
            <a:r>
              <a:rPr sz="2300" spc="-30" dirty="0">
                <a:latin typeface="Verdana"/>
                <a:cs typeface="Verdana"/>
              </a:rPr>
              <a:t>Delhi</a:t>
            </a:r>
            <a:r>
              <a:rPr sz="2300" spc="-210" dirty="0">
                <a:latin typeface="Verdana"/>
                <a:cs typeface="Verdana"/>
              </a:rPr>
              <a:t> </a:t>
            </a:r>
            <a:r>
              <a:rPr sz="2300" spc="-90" dirty="0">
                <a:latin typeface="Verdana"/>
                <a:cs typeface="Verdana"/>
              </a:rPr>
              <a:t>are</a:t>
            </a:r>
            <a:r>
              <a:rPr sz="2300" spc="-204" dirty="0">
                <a:latin typeface="Verdana"/>
                <a:cs typeface="Verdana"/>
              </a:rPr>
              <a:t> </a:t>
            </a:r>
            <a:r>
              <a:rPr sz="2300" spc="-55" dirty="0">
                <a:latin typeface="Verdana"/>
                <a:cs typeface="Verdana"/>
              </a:rPr>
              <a:t>at</a:t>
            </a:r>
            <a:r>
              <a:rPr sz="2300" spc="-204" dirty="0">
                <a:latin typeface="Verdana"/>
                <a:cs typeface="Verdana"/>
              </a:rPr>
              <a:t> </a:t>
            </a:r>
            <a:r>
              <a:rPr sz="2300" spc="-95" dirty="0">
                <a:latin typeface="Verdana"/>
                <a:cs typeface="Verdana"/>
              </a:rPr>
              <a:t>risk</a:t>
            </a:r>
            <a:r>
              <a:rPr sz="2300" spc="-204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of</a:t>
            </a:r>
            <a:r>
              <a:rPr sz="2300" spc="-204" dirty="0">
                <a:latin typeface="Verdana"/>
                <a:cs typeface="Verdana"/>
              </a:rPr>
              <a:t> </a:t>
            </a:r>
            <a:r>
              <a:rPr sz="2300" spc="-100" dirty="0">
                <a:latin typeface="Verdana"/>
                <a:cs typeface="Verdana"/>
              </a:rPr>
              <a:t>churning?",</a:t>
            </a:r>
            <a:r>
              <a:rPr sz="2300" spc="-204" dirty="0">
                <a:latin typeface="Verdana"/>
                <a:cs typeface="Verdana"/>
              </a:rPr>
              <a:t> </a:t>
            </a:r>
            <a:r>
              <a:rPr sz="2300" spc="-30" dirty="0">
                <a:latin typeface="Verdana"/>
                <a:cs typeface="Verdana"/>
              </a:rPr>
              <a:t>the</a:t>
            </a:r>
            <a:r>
              <a:rPr sz="2300" spc="-204" dirty="0">
                <a:latin typeface="Verdana"/>
                <a:cs typeface="Verdana"/>
              </a:rPr>
              <a:t> </a:t>
            </a:r>
            <a:r>
              <a:rPr sz="2300" spc="-25" dirty="0">
                <a:latin typeface="Verdana"/>
                <a:cs typeface="Verdana"/>
              </a:rPr>
              <a:t>AI </a:t>
            </a:r>
            <a:r>
              <a:rPr sz="2300" spc="-35" dirty="0">
                <a:latin typeface="Verdana"/>
                <a:cs typeface="Verdana"/>
              </a:rPr>
              <a:t>instantly</a:t>
            </a:r>
            <a:r>
              <a:rPr sz="2300" spc="-185" dirty="0">
                <a:latin typeface="Verdana"/>
                <a:cs typeface="Verdana"/>
              </a:rPr>
              <a:t> </a:t>
            </a:r>
            <a:r>
              <a:rPr sz="2300" spc="-70" dirty="0">
                <a:latin typeface="Verdana"/>
                <a:cs typeface="Verdana"/>
              </a:rPr>
              <a:t>cross-</a:t>
            </a:r>
            <a:r>
              <a:rPr sz="2300" spc="-45" dirty="0">
                <a:latin typeface="Verdana"/>
                <a:cs typeface="Verdana"/>
              </a:rPr>
              <a:t>references</a:t>
            </a:r>
            <a:r>
              <a:rPr sz="2300" spc="-185" dirty="0">
                <a:latin typeface="Verdana"/>
                <a:cs typeface="Verdana"/>
              </a:rPr>
              <a:t> </a:t>
            </a:r>
            <a:r>
              <a:rPr sz="2300" spc="-30" dirty="0">
                <a:latin typeface="Verdana"/>
                <a:cs typeface="Verdana"/>
              </a:rPr>
              <a:t>the</a:t>
            </a:r>
            <a:r>
              <a:rPr sz="2300" spc="-185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geographic </a:t>
            </a:r>
            <a:r>
              <a:rPr sz="2300" spc="-55" dirty="0">
                <a:latin typeface="Verdana"/>
                <a:cs typeface="Verdana"/>
              </a:rPr>
              <a:t>data</a:t>
            </a:r>
            <a:r>
              <a:rPr sz="2300" spc="-220" dirty="0">
                <a:latin typeface="Verdana"/>
                <a:cs typeface="Verdana"/>
              </a:rPr>
              <a:t> </a:t>
            </a:r>
            <a:r>
              <a:rPr sz="2300" spc="-40" dirty="0">
                <a:latin typeface="Verdana"/>
                <a:cs typeface="Verdana"/>
              </a:rPr>
              <a:t>with</a:t>
            </a:r>
            <a:r>
              <a:rPr sz="2300" spc="-215" dirty="0">
                <a:latin typeface="Verdana"/>
                <a:cs typeface="Verdana"/>
              </a:rPr>
              <a:t> </a:t>
            </a:r>
            <a:r>
              <a:rPr sz="2300" spc="-30" dirty="0">
                <a:latin typeface="Verdana"/>
                <a:cs typeface="Verdana"/>
              </a:rPr>
              <a:t>the</a:t>
            </a:r>
            <a:r>
              <a:rPr sz="2300" spc="-215" dirty="0">
                <a:latin typeface="Verdana"/>
                <a:cs typeface="Verdana"/>
              </a:rPr>
              <a:t> </a:t>
            </a:r>
            <a:r>
              <a:rPr sz="2300" spc="-25" dirty="0">
                <a:latin typeface="Verdana"/>
                <a:cs typeface="Verdana"/>
              </a:rPr>
              <a:t>LightGBM</a:t>
            </a:r>
            <a:r>
              <a:rPr sz="2300" spc="-215" dirty="0">
                <a:latin typeface="Verdana"/>
                <a:cs typeface="Verdana"/>
              </a:rPr>
              <a:t> </a:t>
            </a:r>
            <a:r>
              <a:rPr sz="2300" spc="-25" dirty="0">
                <a:latin typeface="Verdana"/>
                <a:cs typeface="Verdana"/>
              </a:rPr>
              <a:t>churn</a:t>
            </a:r>
            <a:r>
              <a:rPr sz="2300" spc="-215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probabilities </a:t>
            </a:r>
            <a:r>
              <a:rPr sz="2300" dirty="0">
                <a:latin typeface="Verdana"/>
                <a:cs typeface="Verdana"/>
              </a:rPr>
              <a:t>to</a:t>
            </a:r>
            <a:r>
              <a:rPr sz="2300" spc="-204" dirty="0">
                <a:latin typeface="Verdana"/>
                <a:cs typeface="Verdana"/>
              </a:rPr>
              <a:t> </a:t>
            </a:r>
            <a:r>
              <a:rPr sz="2300" spc="-30" dirty="0">
                <a:latin typeface="Verdana"/>
                <a:cs typeface="Verdana"/>
              </a:rPr>
              <a:t>provide</a:t>
            </a:r>
            <a:r>
              <a:rPr sz="2300" spc="-204" dirty="0">
                <a:latin typeface="Verdana"/>
                <a:cs typeface="Verdana"/>
              </a:rPr>
              <a:t> </a:t>
            </a:r>
            <a:r>
              <a:rPr sz="2300" spc="-120" dirty="0">
                <a:latin typeface="Verdana"/>
                <a:cs typeface="Verdana"/>
              </a:rPr>
              <a:t>a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-35" dirty="0">
                <a:latin typeface="Verdana"/>
                <a:cs typeface="Verdana"/>
              </a:rPr>
              <a:t>direct,</a:t>
            </a:r>
            <a:r>
              <a:rPr sz="2300" spc="-204" dirty="0">
                <a:latin typeface="Verdana"/>
                <a:cs typeface="Verdana"/>
              </a:rPr>
              <a:t> </a:t>
            </a:r>
            <a:r>
              <a:rPr sz="2300" spc="-40" dirty="0">
                <a:latin typeface="Verdana"/>
                <a:cs typeface="Verdana"/>
              </a:rPr>
              <a:t>conversational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answer.</a:t>
            </a:r>
            <a:endParaRPr sz="2300">
              <a:latin typeface="Verdana"/>
              <a:cs typeface="Verdana"/>
            </a:endParaRPr>
          </a:p>
          <a:p>
            <a:pPr marL="508634" marR="53975" indent="-304800">
              <a:lnSpc>
                <a:spcPct val="114100"/>
              </a:lnSpc>
              <a:buFont typeface="Verdana"/>
              <a:buAutoNum type="arabicPeriod"/>
              <a:tabLst>
                <a:tab pos="508634" algn="l"/>
              </a:tabLst>
            </a:pPr>
            <a:r>
              <a:rPr sz="2300" spc="-80" dirty="0">
                <a:latin typeface="Arial Black"/>
                <a:cs typeface="Arial Black"/>
              </a:rPr>
              <a:t>AI-</a:t>
            </a:r>
            <a:r>
              <a:rPr sz="2300" spc="-165" dirty="0">
                <a:latin typeface="Arial Black"/>
                <a:cs typeface="Arial Black"/>
              </a:rPr>
              <a:t>Generated </a:t>
            </a:r>
            <a:r>
              <a:rPr sz="2300" spc="-220" dirty="0">
                <a:latin typeface="Arial Black"/>
                <a:cs typeface="Arial Black"/>
              </a:rPr>
              <a:t>Sales</a:t>
            </a:r>
            <a:r>
              <a:rPr sz="2300" spc="-165" dirty="0">
                <a:latin typeface="Arial Black"/>
                <a:cs typeface="Arial Black"/>
              </a:rPr>
              <a:t> </a:t>
            </a:r>
            <a:r>
              <a:rPr sz="2300" spc="-175" dirty="0">
                <a:latin typeface="Arial Black"/>
                <a:cs typeface="Arial Black"/>
              </a:rPr>
              <a:t>Pitches:</a:t>
            </a:r>
            <a:r>
              <a:rPr sz="2300" spc="-140" dirty="0">
                <a:latin typeface="Arial Black"/>
                <a:cs typeface="Arial Black"/>
              </a:rPr>
              <a:t> </a:t>
            </a:r>
            <a:r>
              <a:rPr sz="2300" spc="-80" dirty="0">
                <a:latin typeface="Verdana"/>
                <a:cs typeface="Verdana"/>
              </a:rPr>
              <a:t>Instead</a:t>
            </a:r>
            <a:r>
              <a:rPr sz="2300" spc="-18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of</a:t>
            </a:r>
            <a:r>
              <a:rPr sz="2300" spc="-185" dirty="0">
                <a:latin typeface="Verdana"/>
                <a:cs typeface="Verdana"/>
              </a:rPr>
              <a:t> </a:t>
            </a:r>
            <a:r>
              <a:rPr sz="2300" spc="-20" dirty="0">
                <a:latin typeface="Verdana"/>
                <a:cs typeface="Verdana"/>
              </a:rPr>
              <a:t>just </a:t>
            </a:r>
            <a:r>
              <a:rPr sz="2300" spc="-35" dirty="0">
                <a:latin typeface="Verdana"/>
                <a:cs typeface="Verdana"/>
              </a:rPr>
              <a:t>telling</a:t>
            </a:r>
            <a:r>
              <a:rPr sz="2300" spc="-220" dirty="0">
                <a:latin typeface="Verdana"/>
                <a:cs typeface="Verdana"/>
              </a:rPr>
              <a:t> </a:t>
            </a:r>
            <a:r>
              <a:rPr sz="2300" spc="-120" dirty="0">
                <a:latin typeface="Verdana"/>
                <a:cs typeface="Verdana"/>
              </a:rPr>
              <a:t>a</a:t>
            </a:r>
            <a:r>
              <a:rPr sz="2300" spc="-220" dirty="0">
                <a:latin typeface="Verdana"/>
                <a:cs typeface="Verdana"/>
              </a:rPr>
              <a:t> </a:t>
            </a:r>
            <a:r>
              <a:rPr sz="2300" spc="-45" dirty="0">
                <a:latin typeface="Verdana"/>
                <a:cs typeface="Verdana"/>
              </a:rPr>
              <a:t>rep</a:t>
            </a:r>
            <a:r>
              <a:rPr sz="2300" spc="-220" dirty="0">
                <a:latin typeface="Verdana"/>
                <a:cs typeface="Verdana"/>
              </a:rPr>
              <a:t> </a:t>
            </a:r>
            <a:r>
              <a:rPr sz="2300" spc="-65" dirty="0">
                <a:latin typeface="Verdana"/>
                <a:cs typeface="Verdana"/>
              </a:rPr>
              <a:t>what</a:t>
            </a:r>
            <a:r>
              <a:rPr sz="2300" spc="-22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product</a:t>
            </a:r>
            <a:r>
              <a:rPr sz="2300" spc="-22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to</a:t>
            </a:r>
            <a:r>
              <a:rPr sz="2300" spc="-220" dirty="0">
                <a:latin typeface="Verdana"/>
                <a:cs typeface="Verdana"/>
              </a:rPr>
              <a:t> </a:t>
            </a:r>
            <a:r>
              <a:rPr sz="2300" spc="-50" dirty="0">
                <a:latin typeface="Verdana"/>
                <a:cs typeface="Verdana"/>
              </a:rPr>
              <a:t>sell,</a:t>
            </a:r>
            <a:r>
              <a:rPr sz="2300" spc="-220" dirty="0">
                <a:latin typeface="Verdana"/>
                <a:cs typeface="Verdana"/>
              </a:rPr>
              <a:t> </a:t>
            </a:r>
            <a:r>
              <a:rPr sz="2300" spc="-25" dirty="0">
                <a:latin typeface="Verdana"/>
                <a:cs typeface="Verdana"/>
              </a:rPr>
              <a:t>the </a:t>
            </a:r>
            <a:r>
              <a:rPr sz="2300" spc="-75" dirty="0">
                <a:latin typeface="Verdana"/>
                <a:cs typeface="Verdana"/>
              </a:rPr>
              <a:t>system</a:t>
            </a:r>
            <a:r>
              <a:rPr sz="2300" spc="-210" dirty="0">
                <a:latin typeface="Verdana"/>
                <a:cs typeface="Verdana"/>
              </a:rPr>
              <a:t> </a:t>
            </a:r>
            <a:r>
              <a:rPr sz="2300" spc="-65" dirty="0">
                <a:latin typeface="Verdana"/>
                <a:cs typeface="Verdana"/>
              </a:rPr>
              <a:t>uses</a:t>
            </a:r>
            <a:r>
              <a:rPr sz="2300" spc="-210" dirty="0">
                <a:latin typeface="Verdana"/>
                <a:cs typeface="Verdana"/>
              </a:rPr>
              <a:t> </a:t>
            </a:r>
            <a:r>
              <a:rPr sz="2300" spc="-110" dirty="0">
                <a:latin typeface="Verdana"/>
                <a:cs typeface="Verdana"/>
              </a:rPr>
              <a:t>GenAI</a:t>
            </a:r>
            <a:r>
              <a:rPr sz="2300" spc="-21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to</a:t>
            </a:r>
            <a:r>
              <a:rPr sz="2300" spc="-204" dirty="0">
                <a:latin typeface="Verdana"/>
                <a:cs typeface="Verdana"/>
              </a:rPr>
              <a:t> </a:t>
            </a:r>
            <a:r>
              <a:rPr sz="2300" spc="-70" dirty="0">
                <a:latin typeface="Verdana"/>
                <a:cs typeface="Verdana"/>
              </a:rPr>
              <a:t>auto-</a:t>
            </a:r>
            <a:r>
              <a:rPr sz="2300" spc="-10" dirty="0">
                <a:latin typeface="Verdana"/>
                <a:cs typeface="Verdana"/>
              </a:rPr>
              <a:t>generate </a:t>
            </a:r>
            <a:r>
              <a:rPr sz="2300" spc="-45" dirty="0">
                <a:latin typeface="Verdana"/>
                <a:cs typeface="Verdana"/>
              </a:rPr>
              <a:t>personalized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-65" dirty="0">
                <a:latin typeface="Verdana"/>
                <a:cs typeface="Verdana"/>
              </a:rPr>
              <a:t>email</a:t>
            </a:r>
            <a:r>
              <a:rPr sz="2300" spc="-195" dirty="0">
                <a:latin typeface="Verdana"/>
                <a:cs typeface="Verdana"/>
              </a:rPr>
              <a:t> </a:t>
            </a:r>
            <a:r>
              <a:rPr sz="2300" spc="-50" dirty="0">
                <a:latin typeface="Verdana"/>
                <a:cs typeface="Verdana"/>
              </a:rPr>
              <a:t>and</a:t>
            </a:r>
            <a:r>
              <a:rPr sz="2300" spc="-195" dirty="0">
                <a:latin typeface="Verdana"/>
                <a:cs typeface="Verdana"/>
              </a:rPr>
              <a:t> </a:t>
            </a:r>
            <a:r>
              <a:rPr sz="2300" spc="-50" dirty="0">
                <a:latin typeface="Verdana"/>
                <a:cs typeface="Verdana"/>
              </a:rPr>
              <a:t>WhatsApp</a:t>
            </a:r>
            <a:r>
              <a:rPr sz="2300" spc="-195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pitch </a:t>
            </a:r>
            <a:r>
              <a:rPr sz="2300" spc="-20" dirty="0">
                <a:latin typeface="Verdana"/>
                <a:cs typeface="Verdana"/>
              </a:rPr>
              <a:t>scripts</a:t>
            </a:r>
            <a:r>
              <a:rPr sz="2300" spc="-204" dirty="0">
                <a:latin typeface="Verdana"/>
                <a:cs typeface="Verdana"/>
              </a:rPr>
              <a:t> </a:t>
            </a:r>
            <a:r>
              <a:rPr sz="2300" spc="-30" dirty="0">
                <a:latin typeface="Verdana"/>
                <a:cs typeface="Verdana"/>
              </a:rPr>
              <a:t>tailored</a:t>
            </a:r>
            <a:r>
              <a:rPr sz="2300" spc="-204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to</a:t>
            </a:r>
            <a:r>
              <a:rPr sz="2300" spc="-204" dirty="0">
                <a:latin typeface="Verdana"/>
                <a:cs typeface="Verdana"/>
              </a:rPr>
              <a:t> </a:t>
            </a:r>
            <a:r>
              <a:rPr sz="2300" spc="-30" dirty="0">
                <a:latin typeface="Verdana"/>
                <a:cs typeface="Verdana"/>
              </a:rPr>
              <a:t>the</a:t>
            </a:r>
            <a:r>
              <a:rPr sz="2300" spc="-204" dirty="0">
                <a:latin typeface="Verdana"/>
                <a:cs typeface="Verdana"/>
              </a:rPr>
              <a:t> </a:t>
            </a:r>
            <a:r>
              <a:rPr sz="2300" spc="-40" dirty="0">
                <a:latin typeface="Verdana"/>
                <a:cs typeface="Verdana"/>
              </a:rPr>
              <a:t>buyer's</a:t>
            </a:r>
            <a:r>
              <a:rPr sz="2300" spc="-204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credit</a:t>
            </a:r>
            <a:r>
              <a:rPr sz="2300" spc="-204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risk, </a:t>
            </a:r>
            <a:r>
              <a:rPr sz="2300" spc="-45" dirty="0">
                <a:latin typeface="Verdana"/>
                <a:cs typeface="Verdana"/>
              </a:rPr>
              <a:t>purchase</a:t>
            </a:r>
            <a:r>
              <a:rPr sz="2300" spc="-204" dirty="0">
                <a:latin typeface="Verdana"/>
                <a:cs typeface="Verdana"/>
              </a:rPr>
              <a:t> </a:t>
            </a:r>
            <a:r>
              <a:rPr sz="2300" spc="-85" dirty="0">
                <a:latin typeface="Verdana"/>
                <a:cs typeface="Verdana"/>
              </a:rPr>
              <a:t>history,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-50" dirty="0">
                <a:latin typeface="Verdana"/>
                <a:cs typeface="Verdana"/>
              </a:rPr>
              <a:t>and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-20" dirty="0">
                <a:latin typeface="Verdana"/>
                <a:cs typeface="Verdana"/>
              </a:rPr>
              <a:t>cluster</a:t>
            </a:r>
            <a:r>
              <a:rPr sz="2300" spc="-204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profile.</a:t>
            </a:r>
            <a:endParaRPr sz="2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9300" y="9258300"/>
            <a:ext cx="1028700" cy="10287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72203" y="3633501"/>
            <a:ext cx="2317115" cy="35007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900" spc="-10" dirty="0">
                <a:latin typeface="Arial Black"/>
                <a:cs typeface="Arial Black"/>
              </a:rPr>
              <a:t>Source</a:t>
            </a:r>
            <a:endParaRPr sz="1900">
              <a:latin typeface="Arial Black"/>
              <a:cs typeface="Arial Black"/>
            </a:endParaRPr>
          </a:p>
          <a:p>
            <a:pPr algn="ctr">
              <a:lnSpc>
                <a:spcPct val="361800"/>
              </a:lnSpc>
              <a:spcBef>
                <a:spcPts val="225"/>
              </a:spcBef>
            </a:pPr>
            <a:r>
              <a:rPr sz="1900" spc="-10" dirty="0">
                <a:latin typeface="Verdana"/>
                <a:cs typeface="Verdana"/>
              </a:rPr>
              <a:t>transactions_dsr </a:t>
            </a:r>
            <a:r>
              <a:rPr sz="1900" spc="-40" dirty="0">
                <a:latin typeface="Verdana"/>
                <a:cs typeface="Verdana"/>
              </a:rPr>
              <a:t>apps_tour_tourplan </a:t>
            </a:r>
            <a:r>
              <a:rPr sz="1900" spc="-95" dirty="0">
                <a:latin typeface="Verdana"/>
                <a:cs typeface="Verdana"/>
              </a:rPr>
              <a:t>apps_tours_expense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08929" y="3633501"/>
            <a:ext cx="2921000" cy="35007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900" spc="-10" dirty="0">
                <a:latin typeface="Arial Black"/>
                <a:cs typeface="Arial Black"/>
              </a:rPr>
              <a:t>Metric</a:t>
            </a:r>
            <a:endParaRPr sz="19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895"/>
              </a:spcBef>
            </a:pPr>
            <a:endParaRPr sz="1900">
              <a:latin typeface="Arial Black"/>
              <a:cs typeface="Arial Black"/>
            </a:endParaRPr>
          </a:p>
          <a:p>
            <a:pPr marL="199390" marR="191770" algn="ctr">
              <a:lnSpc>
                <a:spcPct val="115100"/>
              </a:lnSpc>
            </a:pPr>
            <a:r>
              <a:rPr sz="1900" spc="-50" dirty="0">
                <a:latin typeface="Verdana"/>
                <a:cs typeface="Verdana"/>
              </a:rPr>
              <a:t>Total</a:t>
            </a:r>
            <a:r>
              <a:rPr sz="1900" spc="-170" dirty="0">
                <a:latin typeface="Verdana"/>
                <a:cs typeface="Verdana"/>
              </a:rPr>
              <a:t> </a:t>
            </a:r>
            <a:r>
              <a:rPr sz="1900" spc="-60" dirty="0">
                <a:latin typeface="Verdana"/>
                <a:cs typeface="Verdana"/>
              </a:rPr>
              <a:t>orders,</a:t>
            </a:r>
            <a:r>
              <a:rPr sz="1900" spc="-165" dirty="0">
                <a:latin typeface="Verdana"/>
                <a:cs typeface="Verdana"/>
              </a:rPr>
              <a:t> </a:t>
            </a:r>
            <a:r>
              <a:rPr sz="1900" spc="-65" dirty="0">
                <a:latin typeface="Verdana"/>
                <a:cs typeface="Verdana"/>
              </a:rPr>
              <a:t>revenue, </a:t>
            </a:r>
            <a:r>
              <a:rPr sz="1900" spc="-40" dirty="0">
                <a:latin typeface="Verdana"/>
                <a:cs typeface="Verdana"/>
              </a:rPr>
              <a:t>customers</a:t>
            </a:r>
            <a:r>
              <a:rPr sz="1900" spc="-130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served</a:t>
            </a:r>
            <a:endParaRPr sz="1900">
              <a:latin typeface="Verdana"/>
              <a:cs typeface="Verdana"/>
            </a:endParaRPr>
          </a:p>
          <a:p>
            <a:pPr algn="ctr">
              <a:lnSpc>
                <a:spcPts val="8030"/>
              </a:lnSpc>
              <a:spcBef>
                <a:spcPts val="120"/>
              </a:spcBef>
            </a:pPr>
            <a:r>
              <a:rPr sz="1900" spc="-20" dirty="0">
                <a:latin typeface="Verdana"/>
                <a:cs typeface="Verdana"/>
              </a:rPr>
              <a:t>Field</a:t>
            </a:r>
            <a:r>
              <a:rPr sz="1900" spc="-180" dirty="0">
                <a:latin typeface="Verdana"/>
                <a:cs typeface="Verdana"/>
              </a:rPr>
              <a:t> </a:t>
            </a:r>
            <a:r>
              <a:rPr sz="1900" spc="-35" dirty="0">
                <a:latin typeface="Verdana"/>
                <a:cs typeface="Verdana"/>
              </a:rPr>
              <a:t>visits</a:t>
            </a:r>
            <a:r>
              <a:rPr sz="1900" spc="-175" dirty="0">
                <a:latin typeface="Verdana"/>
                <a:cs typeface="Verdana"/>
              </a:rPr>
              <a:t> </a:t>
            </a:r>
            <a:r>
              <a:rPr sz="1900" spc="-135" dirty="0">
                <a:latin typeface="Verdana"/>
                <a:cs typeface="Verdana"/>
              </a:rPr>
              <a:t>/</a:t>
            </a:r>
            <a:r>
              <a:rPr sz="1900" spc="-180" dirty="0">
                <a:latin typeface="Verdana"/>
                <a:cs typeface="Verdana"/>
              </a:rPr>
              <a:t> </a:t>
            </a:r>
            <a:r>
              <a:rPr sz="1900" spc="-25" dirty="0">
                <a:latin typeface="Verdana"/>
                <a:cs typeface="Verdana"/>
              </a:rPr>
              <a:t>tours</a:t>
            </a:r>
            <a:r>
              <a:rPr sz="1900" spc="-175" dirty="0">
                <a:latin typeface="Verdana"/>
                <a:cs typeface="Verdana"/>
              </a:rPr>
              <a:t> </a:t>
            </a:r>
            <a:r>
              <a:rPr sz="1900" spc="-20" dirty="0">
                <a:latin typeface="Verdana"/>
                <a:cs typeface="Verdana"/>
              </a:rPr>
              <a:t>taken </a:t>
            </a:r>
            <a:r>
              <a:rPr sz="1900" spc="-75" dirty="0">
                <a:latin typeface="Verdana"/>
                <a:cs typeface="Verdana"/>
              </a:rPr>
              <a:t>Travel</a:t>
            </a:r>
            <a:r>
              <a:rPr sz="1900" spc="-180" dirty="0">
                <a:latin typeface="Verdana"/>
                <a:cs typeface="Verdana"/>
              </a:rPr>
              <a:t> </a:t>
            </a:r>
            <a:r>
              <a:rPr sz="1900" spc="-30" dirty="0">
                <a:latin typeface="Verdana"/>
                <a:cs typeface="Verdana"/>
              </a:rPr>
              <a:t>and</a:t>
            </a:r>
            <a:r>
              <a:rPr sz="1900" spc="-18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field</a:t>
            </a:r>
            <a:r>
              <a:rPr sz="1900" spc="-180" dirty="0">
                <a:latin typeface="Verdana"/>
                <a:cs typeface="Verdana"/>
              </a:rPr>
              <a:t> </a:t>
            </a:r>
            <a:r>
              <a:rPr sz="1900" spc="-50" dirty="0">
                <a:latin typeface="Verdana"/>
                <a:cs typeface="Verdana"/>
              </a:rPr>
              <a:t>expenses</a:t>
            </a:r>
            <a:endParaRPr sz="19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8724" y="1851024"/>
            <a:ext cx="7096124" cy="38671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44106" y="5808276"/>
            <a:ext cx="7305675" cy="336232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881964" y="-187336"/>
            <a:ext cx="11882755" cy="1058943"/>
          </a:xfrm>
          <a:prstGeom prst="rect">
            <a:avLst/>
          </a:prstGeom>
        </p:spPr>
        <p:txBody>
          <a:bodyPr vert="horz" wrap="square" lIns="0" tIns="218439" rIns="0" bIns="0" rtlCol="0">
            <a:spAutoFit/>
          </a:bodyPr>
          <a:lstStyle/>
          <a:p>
            <a:pPr marL="3006725" marR="5080" indent="-833755">
              <a:lnSpc>
                <a:spcPct val="116300"/>
              </a:lnSpc>
              <a:spcBef>
                <a:spcPts val="95"/>
              </a:spcBef>
            </a:pPr>
            <a:r>
              <a:rPr spc="-254" dirty="0"/>
              <a:t>Sales</a:t>
            </a:r>
            <a:r>
              <a:rPr spc="-550" dirty="0"/>
              <a:t> </a:t>
            </a:r>
            <a:r>
              <a:rPr spc="-185" dirty="0"/>
              <a:t>Rep</a:t>
            </a:r>
            <a:r>
              <a:rPr spc="-555" dirty="0"/>
              <a:t> </a:t>
            </a:r>
            <a:r>
              <a:rPr spc="-60" dirty="0"/>
              <a:t>Performance</a:t>
            </a:r>
            <a:r>
              <a:rPr spc="-560" dirty="0"/>
              <a:t> </a:t>
            </a:r>
            <a:endParaRPr spc="-10" dirty="0"/>
          </a:p>
        </p:txBody>
      </p:sp>
      <p:sp>
        <p:nvSpPr>
          <p:cNvPr id="11" name="object 11"/>
          <p:cNvSpPr txBox="1"/>
          <p:nvPr/>
        </p:nvSpPr>
        <p:spPr>
          <a:xfrm>
            <a:off x="179805" y="2514046"/>
            <a:ext cx="482663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225" dirty="0">
                <a:latin typeface="Arial Black"/>
                <a:cs typeface="Arial Black"/>
              </a:rPr>
              <a:t>Sales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210" dirty="0">
                <a:latin typeface="Arial Black"/>
                <a:cs typeface="Arial Black"/>
              </a:rPr>
              <a:t>Rep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65" dirty="0">
                <a:latin typeface="Arial Black"/>
                <a:cs typeface="Arial Black"/>
              </a:rPr>
              <a:t>Performance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210" dirty="0">
                <a:latin typeface="Arial Black"/>
                <a:cs typeface="Arial Black"/>
              </a:rPr>
              <a:t>Tracker</a:t>
            </a:r>
            <a:endParaRPr sz="2500">
              <a:latin typeface="Arial Black"/>
              <a:cs typeface="Arial Black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9074" y="7876539"/>
            <a:ext cx="95250" cy="952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9074" y="8267064"/>
            <a:ext cx="95250" cy="952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9074" y="8657589"/>
            <a:ext cx="95250" cy="9524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62210" y="7672062"/>
            <a:ext cx="9890125" cy="119697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200" spc="-170" dirty="0">
                <a:latin typeface="Arial Black"/>
                <a:cs typeface="Arial Black"/>
              </a:rPr>
              <a:t>Revenue</a:t>
            </a:r>
            <a:r>
              <a:rPr sz="2200" spc="-185" dirty="0">
                <a:latin typeface="Arial Black"/>
                <a:cs typeface="Arial Black"/>
              </a:rPr>
              <a:t> ROI</a:t>
            </a:r>
            <a:r>
              <a:rPr sz="2200" spc="-160" dirty="0">
                <a:latin typeface="Arial Black"/>
                <a:cs typeface="Arial Black"/>
              </a:rPr>
              <a:t> </a:t>
            </a:r>
            <a:r>
              <a:rPr sz="2200" spc="-615" dirty="0">
                <a:latin typeface="Verdana"/>
                <a:cs typeface="Verdana"/>
              </a:rPr>
              <a:t>=</a:t>
            </a:r>
            <a:r>
              <a:rPr sz="2200" spc="-204" dirty="0">
                <a:latin typeface="Verdana"/>
                <a:cs typeface="Verdana"/>
              </a:rPr>
              <a:t> </a:t>
            </a:r>
            <a:r>
              <a:rPr sz="2200" spc="-60" dirty="0">
                <a:latin typeface="Verdana"/>
                <a:cs typeface="Verdana"/>
              </a:rPr>
              <a:t>Total</a:t>
            </a:r>
            <a:r>
              <a:rPr sz="2200" spc="-200" dirty="0">
                <a:latin typeface="Verdana"/>
                <a:cs typeface="Verdana"/>
              </a:rPr>
              <a:t> </a:t>
            </a:r>
            <a:r>
              <a:rPr sz="2200" spc="-70" dirty="0">
                <a:latin typeface="Verdana"/>
                <a:cs typeface="Verdana"/>
              </a:rPr>
              <a:t>Revenue</a:t>
            </a:r>
            <a:r>
              <a:rPr sz="2200" spc="-200" dirty="0">
                <a:latin typeface="Verdana"/>
                <a:cs typeface="Verdana"/>
              </a:rPr>
              <a:t> </a:t>
            </a:r>
            <a:r>
              <a:rPr sz="2200" spc="-670" dirty="0">
                <a:latin typeface="Verdana"/>
                <a:cs typeface="Verdana"/>
              </a:rPr>
              <a:t>÷</a:t>
            </a:r>
            <a:r>
              <a:rPr sz="2200" spc="-200" dirty="0">
                <a:latin typeface="Verdana"/>
                <a:cs typeface="Verdana"/>
              </a:rPr>
              <a:t> </a:t>
            </a:r>
            <a:r>
              <a:rPr sz="2200" spc="-60" dirty="0">
                <a:latin typeface="Verdana"/>
                <a:cs typeface="Verdana"/>
              </a:rPr>
              <a:t>Total</a:t>
            </a:r>
            <a:r>
              <a:rPr sz="2200" spc="-204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Expenses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16500"/>
              </a:lnSpc>
            </a:pPr>
            <a:r>
              <a:rPr sz="2200" dirty="0">
                <a:latin typeface="Verdana"/>
                <a:cs typeface="Verdana"/>
              </a:rPr>
              <a:t>Monthly</a:t>
            </a:r>
            <a:r>
              <a:rPr sz="2200" spc="-180" dirty="0">
                <a:latin typeface="Verdana"/>
                <a:cs typeface="Verdana"/>
              </a:rPr>
              <a:t> </a:t>
            </a:r>
            <a:r>
              <a:rPr sz="2200" spc="-70" dirty="0">
                <a:latin typeface="Verdana"/>
                <a:cs typeface="Verdana"/>
              </a:rPr>
              <a:t>Revenue</a:t>
            </a:r>
            <a:r>
              <a:rPr sz="2200" spc="-180" dirty="0">
                <a:latin typeface="Verdana"/>
                <a:cs typeface="Verdana"/>
              </a:rPr>
              <a:t> </a:t>
            </a:r>
            <a:r>
              <a:rPr sz="2200" spc="-40" dirty="0">
                <a:latin typeface="Verdana"/>
                <a:cs typeface="Verdana"/>
              </a:rPr>
              <a:t>Forecast</a:t>
            </a:r>
            <a:r>
              <a:rPr sz="2200" spc="-180" dirty="0">
                <a:latin typeface="Verdana"/>
                <a:cs typeface="Verdana"/>
              </a:rPr>
              <a:t> </a:t>
            </a:r>
            <a:r>
              <a:rPr sz="2200" spc="-30" dirty="0">
                <a:latin typeface="Verdana"/>
                <a:cs typeface="Verdana"/>
              </a:rPr>
              <a:t>per</a:t>
            </a:r>
            <a:r>
              <a:rPr sz="2200" spc="-180" dirty="0">
                <a:latin typeface="Verdana"/>
                <a:cs typeface="Verdana"/>
              </a:rPr>
              <a:t> </a:t>
            </a:r>
            <a:r>
              <a:rPr sz="2200" spc="-40" dirty="0">
                <a:latin typeface="Verdana"/>
                <a:cs typeface="Verdana"/>
              </a:rPr>
              <a:t>rep</a:t>
            </a:r>
            <a:r>
              <a:rPr sz="2200" spc="-180" dirty="0">
                <a:latin typeface="Verdana"/>
                <a:cs typeface="Verdana"/>
              </a:rPr>
              <a:t> </a:t>
            </a:r>
            <a:r>
              <a:rPr sz="2200" spc="-80" dirty="0">
                <a:latin typeface="Verdana"/>
                <a:cs typeface="Verdana"/>
              </a:rPr>
              <a:t>(linear</a:t>
            </a:r>
            <a:r>
              <a:rPr sz="2200" spc="-180" dirty="0">
                <a:latin typeface="Verdana"/>
                <a:cs typeface="Verdana"/>
              </a:rPr>
              <a:t> </a:t>
            </a:r>
            <a:r>
              <a:rPr sz="2200" spc="-80" dirty="0">
                <a:latin typeface="Verdana"/>
                <a:cs typeface="Verdana"/>
              </a:rPr>
              <a:t>regression,</a:t>
            </a:r>
            <a:r>
              <a:rPr sz="2200" spc="-180" dirty="0">
                <a:latin typeface="Verdana"/>
                <a:cs typeface="Verdana"/>
              </a:rPr>
              <a:t> </a:t>
            </a:r>
            <a:r>
              <a:rPr sz="2200" spc="-175" dirty="0">
                <a:latin typeface="Verdana"/>
                <a:cs typeface="Verdana"/>
              </a:rPr>
              <a:t>3-</a:t>
            </a:r>
            <a:r>
              <a:rPr sz="2200" spc="-40" dirty="0">
                <a:latin typeface="Verdana"/>
                <a:cs typeface="Verdana"/>
              </a:rPr>
              <a:t>month</a:t>
            </a:r>
            <a:r>
              <a:rPr sz="2200" spc="-1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projection) </a:t>
            </a:r>
            <a:r>
              <a:rPr sz="2200" spc="-25" dirty="0">
                <a:latin typeface="Verdana"/>
                <a:cs typeface="Verdana"/>
              </a:rPr>
              <a:t>Only</a:t>
            </a:r>
            <a:r>
              <a:rPr sz="2200" spc="-195" dirty="0">
                <a:latin typeface="Verdana"/>
                <a:cs typeface="Verdana"/>
              </a:rPr>
              <a:t> </a:t>
            </a:r>
            <a:r>
              <a:rPr sz="2200" spc="-35" dirty="0">
                <a:latin typeface="Verdana"/>
                <a:cs typeface="Verdana"/>
              </a:rPr>
              <a:t>active</a:t>
            </a:r>
            <a:r>
              <a:rPr sz="2200" spc="-195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employees</a:t>
            </a:r>
            <a:r>
              <a:rPr sz="2200" spc="-190" dirty="0">
                <a:latin typeface="Verdana"/>
                <a:cs typeface="Verdana"/>
              </a:rPr>
              <a:t> </a:t>
            </a:r>
            <a:r>
              <a:rPr sz="2200" spc="-35" dirty="0">
                <a:latin typeface="Verdana"/>
                <a:cs typeface="Verdana"/>
              </a:rPr>
              <a:t>with</a:t>
            </a:r>
            <a:r>
              <a:rPr sz="2200" spc="-195" dirty="0">
                <a:latin typeface="Verdana"/>
                <a:cs typeface="Verdana"/>
              </a:rPr>
              <a:t> </a:t>
            </a:r>
            <a:r>
              <a:rPr sz="2200" spc="-55" dirty="0">
                <a:latin typeface="Verdana"/>
                <a:cs typeface="Verdana"/>
              </a:rPr>
              <a:t>real</a:t>
            </a:r>
            <a:r>
              <a:rPr sz="2200" spc="-19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activity</a:t>
            </a:r>
            <a:r>
              <a:rPr sz="2200" spc="-195" dirty="0">
                <a:latin typeface="Verdana"/>
                <a:cs typeface="Verdana"/>
              </a:rPr>
              <a:t> </a:t>
            </a:r>
            <a:r>
              <a:rPr sz="2200" spc="-85" dirty="0">
                <a:latin typeface="Verdana"/>
                <a:cs typeface="Verdana"/>
              </a:rPr>
              <a:t>are</a:t>
            </a:r>
            <a:r>
              <a:rPr sz="2200" spc="-1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shown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659263" y="9627163"/>
            <a:ext cx="229235" cy="26797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400" spc="-110" dirty="0">
                <a:solidFill>
                  <a:srgbClr val="FFFFFF"/>
                </a:solidFill>
                <a:latin typeface="Arial Black"/>
                <a:cs typeface="Arial Black"/>
              </a:rPr>
              <a:t>07</a:t>
            </a:r>
            <a:endParaRPr sz="1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9300" y="9258300"/>
            <a:ext cx="1028700" cy="1028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36440" y="2533064"/>
            <a:ext cx="9582149" cy="56292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81964" y="-187336"/>
            <a:ext cx="11882755" cy="1058943"/>
          </a:xfrm>
          <a:prstGeom prst="rect">
            <a:avLst/>
          </a:prstGeom>
        </p:spPr>
        <p:txBody>
          <a:bodyPr vert="horz" wrap="square" lIns="0" tIns="218439" rIns="0" bIns="0" rtlCol="0">
            <a:spAutoFit/>
          </a:bodyPr>
          <a:lstStyle/>
          <a:p>
            <a:pPr marL="3006725" marR="5080" indent="-833755">
              <a:lnSpc>
                <a:spcPct val="116300"/>
              </a:lnSpc>
              <a:spcBef>
                <a:spcPts val="95"/>
              </a:spcBef>
            </a:pPr>
            <a:r>
              <a:rPr spc="-114" dirty="0"/>
              <a:t>Market</a:t>
            </a:r>
            <a:r>
              <a:rPr spc="-465" dirty="0"/>
              <a:t> </a:t>
            </a:r>
            <a:r>
              <a:rPr spc="-10" dirty="0"/>
              <a:t>Intelligence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5675" y="3720378"/>
            <a:ext cx="97089" cy="9708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5675" y="4118443"/>
            <a:ext cx="97089" cy="9708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5675" y="4914574"/>
            <a:ext cx="97089" cy="9708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5675" y="5710704"/>
            <a:ext cx="97089" cy="9708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9670" y="2514046"/>
            <a:ext cx="5718175" cy="3810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75" dirty="0">
                <a:latin typeface="Arial Black"/>
                <a:cs typeface="Arial Black"/>
              </a:rPr>
              <a:t>Market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65" dirty="0">
                <a:latin typeface="Arial Black"/>
                <a:cs typeface="Arial Black"/>
              </a:rPr>
              <a:t>Intelligence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0" dirty="0">
                <a:latin typeface="Arial Black"/>
                <a:cs typeface="Arial Black"/>
              </a:rPr>
              <a:t>Module:</a:t>
            </a:r>
            <a:endParaRPr sz="2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2500">
              <a:latin typeface="Arial Black"/>
              <a:cs typeface="Arial Black"/>
            </a:endParaRPr>
          </a:p>
          <a:p>
            <a:pPr marL="496570" marR="5080">
              <a:lnSpc>
                <a:spcPct val="116100"/>
              </a:lnSpc>
            </a:pPr>
            <a:r>
              <a:rPr sz="2250" spc="-110" dirty="0">
                <a:latin typeface="Verdana"/>
                <a:cs typeface="Verdana"/>
              </a:rPr>
              <a:t>Tracks</a:t>
            </a:r>
            <a:r>
              <a:rPr sz="2250" spc="-195" dirty="0">
                <a:latin typeface="Verdana"/>
                <a:cs typeface="Verdana"/>
              </a:rPr>
              <a:t> </a:t>
            </a:r>
            <a:r>
              <a:rPr sz="2250" spc="-20" dirty="0">
                <a:latin typeface="Verdana"/>
                <a:cs typeface="Verdana"/>
              </a:rPr>
              <a:t>competitor</a:t>
            </a:r>
            <a:r>
              <a:rPr sz="2250" spc="-195" dirty="0">
                <a:latin typeface="Verdana"/>
                <a:cs typeface="Verdana"/>
              </a:rPr>
              <a:t> </a:t>
            </a:r>
            <a:r>
              <a:rPr sz="2250" spc="-40" dirty="0">
                <a:latin typeface="Verdana"/>
                <a:cs typeface="Verdana"/>
              </a:rPr>
              <a:t>pricing</a:t>
            </a:r>
            <a:r>
              <a:rPr sz="2250" spc="-195" dirty="0">
                <a:latin typeface="Verdana"/>
                <a:cs typeface="Verdana"/>
              </a:rPr>
              <a:t> </a:t>
            </a:r>
            <a:r>
              <a:rPr sz="2250" spc="-30" dirty="0">
                <a:latin typeface="Verdana"/>
                <a:cs typeface="Verdana"/>
              </a:rPr>
              <a:t>per</a:t>
            </a:r>
            <a:r>
              <a:rPr sz="2250" spc="-190" dirty="0">
                <a:latin typeface="Verdana"/>
                <a:cs typeface="Verdana"/>
              </a:rPr>
              <a:t> </a:t>
            </a:r>
            <a:r>
              <a:rPr sz="2250" spc="-10" dirty="0">
                <a:latin typeface="Verdana"/>
                <a:cs typeface="Verdana"/>
              </a:rPr>
              <a:t>product </a:t>
            </a:r>
            <a:r>
              <a:rPr sz="2250" spc="-60" dirty="0">
                <a:latin typeface="Verdana"/>
                <a:cs typeface="Verdana"/>
              </a:rPr>
              <a:t>Auto-</a:t>
            </a:r>
            <a:r>
              <a:rPr sz="2250" spc="-70" dirty="0">
                <a:latin typeface="Verdana"/>
                <a:cs typeface="Verdana"/>
              </a:rPr>
              <a:t>raises</a:t>
            </a:r>
            <a:r>
              <a:rPr sz="2250" spc="-210" dirty="0">
                <a:latin typeface="Verdana"/>
                <a:cs typeface="Verdana"/>
              </a:rPr>
              <a:t> </a:t>
            </a:r>
            <a:r>
              <a:rPr sz="2250" spc="-40" dirty="0">
                <a:latin typeface="Verdana"/>
                <a:cs typeface="Verdana"/>
              </a:rPr>
              <a:t>alerts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-70" dirty="0">
                <a:latin typeface="Verdana"/>
                <a:cs typeface="Verdana"/>
              </a:rPr>
              <a:t>when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-114" dirty="0">
                <a:latin typeface="Verdana"/>
                <a:cs typeface="Verdana"/>
              </a:rPr>
              <a:t>a</a:t>
            </a:r>
            <a:r>
              <a:rPr sz="2250" spc="-210" dirty="0">
                <a:latin typeface="Verdana"/>
                <a:cs typeface="Verdana"/>
              </a:rPr>
              <a:t> </a:t>
            </a:r>
            <a:r>
              <a:rPr sz="2250" spc="-10" dirty="0">
                <a:latin typeface="Verdana"/>
                <a:cs typeface="Verdana"/>
              </a:rPr>
              <a:t>competitor </a:t>
            </a:r>
            <a:r>
              <a:rPr sz="2250" spc="-35" dirty="0">
                <a:latin typeface="Verdana"/>
                <a:cs typeface="Verdana"/>
              </a:rPr>
              <a:t>undercuts</a:t>
            </a:r>
            <a:r>
              <a:rPr sz="2250" spc="-210" dirty="0">
                <a:latin typeface="Verdana"/>
                <a:cs typeface="Verdana"/>
              </a:rPr>
              <a:t> </a:t>
            </a:r>
            <a:r>
              <a:rPr sz="2250" spc="-40" dirty="0">
                <a:latin typeface="Verdana"/>
                <a:cs typeface="Verdana"/>
              </a:rPr>
              <a:t>our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-20" dirty="0">
                <a:latin typeface="Verdana"/>
                <a:cs typeface="Verdana"/>
              </a:rPr>
              <a:t>price</a:t>
            </a:r>
            <a:endParaRPr sz="2250">
              <a:latin typeface="Verdana"/>
              <a:cs typeface="Verdana"/>
            </a:endParaRPr>
          </a:p>
          <a:p>
            <a:pPr marL="496570" marR="1028065">
              <a:lnSpc>
                <a:spcPct val="116100"/>
              </a:lnSpc>
            </a:pPr>
            <a:r>
              <a:rPr sz="2250" spc="-70" dirty="0">
                <a:latin typeface="Verdana"/>
                <a:cs typeface="Verdana"/>
              </a:rPr>
              <a:t>Severity</a:t>
            </a:r>
            <a:r>
              <a:rPr sz="2250" spc="-210" dirty="0">
                <a:latin typeface="Verdana"/>
                <a:cs typeface="Verdana"/>
              </a:rPr>
              <a:t> </a:t>
            </a:r>
            <a:r>
              <a:rPr sz="2250" spc="-95" dirty="0">
                <a:latin typeface="Verdana"/>
                <a:cs typeface="Verdana"/>
              </a:rPr>
              <a:t>levels: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-20" dirty="0">
                <a:latin typeface="Verdana"/>
                <a:cs typeface="Verdana"/>
              </a:rPr>
              <a:t>Critical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-170" dirty="0">
                <a:latin typeface="Verdana"/>
                <a:cs typeface="Verdana"/>
              </a:rPr>
              <a:t>/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-65" dirty="0">
                <a:latin typeface="Verdana"/>
                <a:cs typeface="Verdana"/>
              </a:rPr>
              <a:t>High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-50" dirty="0">
                <a:latin typeface="Verdana"/>
                <a:cs typeface="Verdana"/>
              </a:rPr>
              <a:t>/ </a:t>
            </a:r>
            <a:r>
              <a:rPr sz="2250" spc="-30" dirty="0">
                <a:latin typeface="Verdana"/>
                <a:cs typeface="Verdana"/>
              </a:rPr>
              <a:t>Medium</a:t>
            </a:r>
            <a:r>
              <a:rPr sz="2250" spc="-220" dirty="0">
                <a:latin typeface="Verdana"/>
                <a:cs typeface="Verdana"/>
              </a:rPr>
              <a:t> </a:t>
            </a:r>
            <a:r>
              <a:rPr sz="2250" spc="-45" dirty="0">
                <a:latin typeface="Verdana"/>
                <a:cs typeface="Verdana"/>
              </a:rPr>
              <a:t>based</a:t>
            </a:r>
            <a:r>
              <a:rPr sz="2250" spc="-220" dirty="0">
                <a:latin typeface="Verdana"/>
                <a:cs typeface="Verdana"/>
              </a:rPr>
              <a:t> </a:t>
            </a:r>
            <a:r>
              <a:rPr sz="2250" spc="-25" dirty="0">
                <a:latin typeface="Verdana"/>
                <a:cs typeface="Verdana"/>
              </a:rPr>
              <a:t>on</a:t>
            </a:r>
            <a:r>
              <a:rPr sz="2250" spc="-215" dirty="0">
                <a:latin typeface="Verdana"/>
                <a:cs typeface="Verdana"/>
              </a:rPr>
              <a:t> </a:t>
            </a:r>
            <a:r>
              <a:rPr sz="2250" spc="-10" dirty="0">
                <a:latin typeface="Verdana"/>
                <a:cs typeface="Verdana"/>
              </a:rPr>
              <a:t>price</a:t>
            </a:r>
            <a:r>
              <a:rPr sz="2250" spc="-220" dirty="0">
                <a:latin typeface="Verdana"/>
                <a:cs typeface="Verdana"/>
              </a:rPr>
              <a:t> </a:t>
            </a:r>
            <a:r>
              <a:rPr sz="2250" spc="-25" dirty="0">
                <a:latin typeface="Verdana"/>
                <a:cs typeface="Verdana"/>
              </a:rPr>
              <a:t>gap</a:t>
            </a:r>
            <a:endParaRPr sz="2250">
              <a:latin typeface="Verdana"/>
              <a:cs typeface="Verdana"/>
            </a:endParaRPr>
          </a:p>
          <a:p>
            <a:pPr marL="496570" marR="5080">
              <a:lnSpc>
                <a:spcPct val="116100"/>
              </a:lnSpc>
            </a:pPr>
            <a:r>
              <a:rPr sz="2250" spc="-105" dirty="0">
                <a:latin typeface="Verdana"/>
                <a:cs typeface="Verdana"/>
              </a:rPr>
              <a:t>Real-</a:t>
            </a:r>
            <a:r>
              <a:rPr sz="2250" spc="-55" dirty="0">
                <a:latin typeface="Verdana"/>
                <a:cs typeface="Verdana"/>
              </a:rPr>
              <a:t>time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-105" dirty="0">
                <a:latin typeface="Verdana"/>
                <a:cs typeface="Verdana"/>
              </a:rPr>
              <a:t>market</a:t>
            </a:r>
            <a:r>
              <a:rPr sz="2250" spc="-200" dirty="0">
                <a:latin typeface="Verdana"/>
                <a:cs typeface="Verdana"/>
              </a:rPr>
              <a:t> </a:t>
            </a:r>
            <a:r>
              <a:rPr sz="2250" spc="-70" dirty="0">
                <a:latin typeface="Verdana"/>
                <a:cs typeface="Verdana"/>
              </a:rPr>
              <a:t>news</a:t>
            </a:r>
            <a:r>
              <a:rPr sz="2250" spc="-200" dirty="0">
                <a:latin typeface="Verdana"/>
                <a:cs typeface="Verdana"/>
              </a:rPr>
              <a:t> </a:t>
            </a:r>
            <a:r>
              <a:rPr sz="2250" spc="-10" dirty="0">
                <a:latin typeface="Verdana"/>
                <a:cs typeface="Verdana"/>
              </a:rPr>
              <a:t>feed</a:t>
            </a:r>
            <a:r>
              <a:rPr sz="2250" spc="-200" dirty="0">
                <a:latin typeface="Verdana"/>
                <a:cs typeface="Verdana"/>
              </a:rPr>
              <a:t> </a:t>
            </a:r>
            <a:r>
              <a:rPr sz="2250" spc="-80" dirty="0">
                <a:latin typeface="Verdana"/>
                <a:cs typeface="Verdana"/>
              </a:rPr>
              <a:t>using</a:t>
            </a:r>
            <a:r>
              <a:rPr sz="2250" spc="-200" dirty="0">
                <a:latin typeface="Verdana"/>
                <a:cs typeface="Verdana"/>
              </a:rPr>
              <a:t> </a:t>
            </a:r>
            <a:r>
              <a:rPr sz="2250" spc="-60" dirty="0">
                <a:latin typeface="Verdana"/>
                <a:cs typeface="Verdana"/>
              </a:rPr>
              <a:t>RSS </a:t>
            </a:r>
            <a:r>
              <a:rPr sz="2250" spc="-10" dirty="0">
                <a:latin typeface="Verdana"/>
                <a:cs typeface="Verdana"/>
              </a:rPr>
              <a:t>aggregation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659263" y="9627163"/>
            <a:ext cx="229235" cy="26797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400" spc="-110" dirty="0">
                <a:solidFill>
                  <a:srgbClr val="FFFFFF"/>
                </a:solidFill>
                <a:latin typeface="Arial Black"/>
                <a:cs typeface="Arial Black"/>
              </a:rPr>
              <a:t>07</a:t>
            </a:r>
            <a:endParaRPr sz="1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9300" y="9258300"/>
            <a:ext cx="1028700" cy="10287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4841" y="3983298"/>
            <a:ext cx="4979670" cy="1797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75970">
              <a:lnSpc>
                <a:spcPct val="116300"/>
              </a:lnSpc>
              <a:spcBef>
                <a:spcPts val="95"/>
              </a:spcBef>
            </a:pPr>
            <a:r>
              <a:rPr spc="-185" dirty="0"/>
              <a:t>Thank</a:t>
            </a:r>
            <a:r>
              <a:rPr spc="-725" dirty="0"/>
              <a:t> </a:t>
            </a:r>
            <a:r>
              <a:rPr spc="-675" dirty="0"/>
              <a:t>Y</a:t>
            </a:r>
            <a:r>
              <a:rPr spc="-175" dirty="0"/>
              <a:t>o</a:t>
            </a:r>
            <a:r>
              <a:rPr spc="-165" dirty="0"/>
              <a:t>u</a:t>
            </a:r>
            <a:r>
              <a:rPr spc="-340" dirty="0"/>
              <a:t> </a:t>
            </a:r>
            <a:r>
              <a:rPr spc="-50" dirty="0"/>
              <a:t>Demo</a:t>
            </a:r>
            <a:r>
              <a:rPr spc="-575" dirty="0"/>
              <a:t> </a:t>
            </a:r>
            <a:r>
              <a:rPr spc="-35" dirty="0"/>
              <a:t>and</a:t>
            </a:r>
            <a:r>
              <a:rPr spc="-595" dirty="0"/>
              <a:t> </a:t>
            </a:r>
            <a:r>
              <a:rPr spc="-409" dirty="0"/>
              <a:t>Q&amp;A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659263" y="9627163"/>
            <a:ext cx="229235" cy="26797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400" spc="-110" dirty="0">
                <a:solidFill>
                  <a:srgbClr val="FFFFFF"/>
                </a:solidFill>
                <a:latin typeface="Arial Black"/>
                <a:cs typeface="Arial Black"/>
              </a:rPr>
              <a:t>07</a:t>
            </a:r>
            <a:endParaRPr sz="1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1287</Words>
  <Application>Microsoft Office PowerPoint</Application>
  <PresentationFormat>Custom</PresentationFormat>
  <Paragraphs>130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 Black</vt:lpstr>
      <vt:lpstr>Lucida Sans Unicode</vt:lpstr>
      <vt:lpstr>Verdana</vt:lpstr>
      <vt:lpstr>Office Theme</vt:lpstr>
      <vt:lpstr>Consistent AI: AI-Powered Sales Intelligence Suite</vt:lpstr>
      <vt:lpstr>The Problem Statement</vt:lpstr>
      <vt:lpstr>Project Pipeline</vt:lpstr>
      <vt:lpstr>Technology Stack</vt:lpstr>
      <vt:lpstr>Database Re-Architecture &amp; PostgreSQL Overhaul</vt:lpstr>
      <vt:lpstr>Partner Segmentation &amp; Clustering Models</vt:lpstr>
      <vt:lpstr>Clustering Map</vt:lpstr>
      <vt:lpstr>Partner 360° View Tab</vt:lpstr>
      <vt:lpstr>Predictive Churn &amp; Survival Analysis</vt:lpstr>
      <vt:lpstr>Financial Risk &amp; Credit Health Scoring</vt:lpstr>
      <vt:lpstr>Revenue Forecasting &amp; Lifecycle Management</vt:lpstr>
      <vt:lpstr>Market Basket Analysis &amp;</vt:lpstr>
      <vt:lpstr>Smart Inventory &amp; Stock</vt:lpstr>
      <vt:lpstr>AI Chatbot &amp; Generative AI Integration</vt:lpstr>
      <vt:lpstr>Sales Rep Performance </vt:lpstr>
      <vt:lpstr>Market Intelligence</vt:lpstr>
      <vt:lpstr>Thank You Demo and 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Intelligence</dc:title>
  <dc:creator>Anubhav sharma</dc:creator>
  <cp:keywords>DAGz99zuCMk,BAGGbIwGaew,0</cp:keywords>
  <cp:lastModifiedBy>chahit luthra</cp:lastModifiedBy>
  <cp:revision>2</cp:revision>
  <dcterms:created xsi:type="dcterms:W3CDTF">2026-04-23T06:39:10Z</dcterms:created>
  <dcterms:modified xsi:type="dcterms:W3CDTF">2026-04-23T06:52:15Z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2026-04-22T00:00:00Z</vt:filetime>
  </property>
  <property fmtid="{D5CDD505-2E9C-101B-9397-08002B2CF9AE}" pid="3" name="Creator">
    <vt:lpwstr>Canva</vt:lpwstr>
  </property>
  <property fmtid="{D5CDD505-2E9C-101B-9397-08002B2CF9AE}" pid="4" name="LastSaved">
    <vt:filetime>2026-04-23T00:00:00Z</vt:filetime>
  </property>
  <property fmtid="{D5CDD505-2E9C-101B-9397-08002B2CF9AE}" pid="5" name="Producer">
    <vt:lpwstr>Canva</vt:lpwstr>
  </property>
</Properties>
</file>